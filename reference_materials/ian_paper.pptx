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67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6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4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6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3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5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7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3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9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2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7C448FC-8CB3-4240-98DC-5AE22A6D514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51BD6B6-6E1F-40D3-BEF9-3E392926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2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1BF6-BDC1-D5B2-A070-BF4450614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foundation model for clinician-centered drug repurposing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D4CBE-11FB-970A-DD41-609C61239B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i="1" dirty="0"/>
              <a:t>Huang, K., Chandak, P., Wang, Q. et al.</a:t>
            </a:r>
            <a:endParaRPr lang="en-US" i="1" dirty="0"/>
          </a:p>
          <a:p>
            <a:endParaRPr lang="en-US" dirty="0"/>
          </a:p>
          <a:p>
            <a:r>
              <a:rPr lang="en-US" dirty="0"/>
              <a:t>Ian brown</a:t>
            </a:r>
          </a:p>
        </p:txBody>
      </p:sp>
    </p:spTree>
    <p:extLst>
      <p:ext uri="{BB962C8B-B14F-4D97-AF65-F5344CB8AC3E}">
        <p14:creationId xmlns:p14="http://schemas.microsoft.com/office/powerpoint/2010/main" val="50126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7337-D91B-6953-6496-EFF448D0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Motivation: Why Drug Repurposing?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9060C-EDE0-9DF8-9DDD-AAFC379D3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 over 7,000 rare diseases, less than 7% have FDA approved drugs.</a:t>
            </a:r>
          </a:p>
          <a:p>
            <a:r>
              <a:rPr lang="en-US" dirty="0"/>
              <a:t>Reuse existing drugs for new diseases: faster, less expensive.</a:t>
            </a:r>
          </a:p>
          <a:p>
            <a:r>
              <a:rPr lang="en-US" dirty="0"/>
              <a:t>Clinical data is sparse and incomplete. Existing methods struggle on diseases with no known treatments.</a:t>
            </a:r>
          </a:p>
          <a:p>
            <a:pPr lvl="1"/>
            <a:r>
              <a:rPr lang="en-US" dirty="0"/>
              <a:t>“Zero-shot drug repurposing problem”.</a:t>
            </a:r>
          </a:p>
          <a:p>
            <a:pPr lvl="1"/>
            <a:r>
              <a:rPr lang="en-US" dirty="0"/>
              <a:t>92% of the 17,080 diseases in the paper’s dataset had zero indications.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8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A5CE-41B0-CFF9-6556-2437F785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35D4-35FC-87F7-38C3-8E276F464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TxGNN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C4F15-A016-9AE1-F89D-0944F6E7E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GNN model architecture</a:t>
            </a:r>
          </a:p>
          <a:p>
            <a:r>
              <a:rPr lang="en-US" dirty="0"/>
              <a:t>A specific model trained to perform zero-shot drug repurposing.</a:t>
            </a:r>
          </a:p>
          <a:p>
            <a:r>
              <a:rPr lang="en-US" dirty="0"/>
              <a:t>A “foundation model” </a:t>
            </a:r>
            <a:r>
              <a:rPr lang="en-US" dirty="0">
                <a:sym typeface="Wingdings" panose="05000000000000000000" pitchFamily="2" charset="2"/>
              </a:rPr>
              <a:t> pretrained on a large, general medical knowledge graph (can be fine-tuned for specific tasks).</a:t>
            </a:r>
          </a:p>
          <a:p>
            <a:pPr lvl="1"/>
            <a:r>
              <a:rPr lang="en-US" dirty="0"/>
              <a:t>Precision Medical Knowledge Graph (</a:t>
            </a:r>
            <a:r>
              <a:rPr lang="en-US" dirty="0" err="1"/>
              <a:t>PrimeKG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10 node types, 30 edge types, over 100,000 nodes in total.</a:t>
            </a:r>
          </a:p>
          <a:p>
            <a:pPr lvl="1"/>
            <a:r>
              <a:rPr lang="en-US" dirty="0"/>
              <a:t>17,080 diseases included.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68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1253-A152-5DED-62B0-094F0188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6724-AA9D-0F0E-FED5-2843D63E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TxGNN</a:t>
            </a:r>
            <a:r>
              <a:rPr lang="en-US" dirty="0"/>
              <a:t>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ACC2C-EBE3-2B01-B064-BE00111AB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Predictor Module: predicts new edges in the knowledge graph, specifically, drug-disease edges.</a:t>
            </a:r>
          </a:p>
          <a:p>
            <a:pPr lvl="1"/>
            <a:r>
              <a:rPr lang="en-US" dirty="0"/>
              <a:t>Presence of drug-disease edge = “drug treats disease”.</a:t>
            </a:r>
          </a:p>
          <a:p>
            <a:r>
              <a:rPr lang="en-US" dirty="0"/>
              <a:t>Explainer Module: predicts why a drug-disease edge was predicted by the predictor module.</a:t>
            </a:r>
          </a:p>
          <a:p>
            <a:pPr lvl="1"/>
            <a:r>
              <a:rPr lang="en-US" dirty="0"/>
              <a:t>Identifies paths of “importance” in the knowledge graph between the drug and disease nodes.</a:t>
            </a:r>
          </a:p>
          <a:p>
            <a:pPr lvl="1"/>
            <a:r>
              <a:rPr lang="en-US" dirty="0"/>
              <a:t>Ex. Drug A </a:t>
            </a:r>
            <a:r>
              <a:rPr lang="en-US" dirty="0">
                <a:sym typeface="Wingdings" panose="05000000000000000000" pitchFamily="2" charset="2"/>
              </a:rPr>
              <a:t> Some Gene  Some Protein  Disease 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975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D9623-A00E-E4CF-B50D-D1CF8BE0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50AB-93DD-8CAF-0D33-9F95CB0C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Predictor Module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3EC4D-B842-F255-412A-5A80971C94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Encoder: heterogeneous GNN that learns embedding vectors for nodes in KG.</a:t>
                </a:r>
              </a:p>
              <a:p>
                <a:pPr lvl="1"/>
                <a:r>
                  <a:rPr lang="en-US" dirty="0"/>
                  <a:t>For each relationship/edge type: message sharing and graph convolutions.</a:t>
                </a:r>
              </a:p>
              <a:p>
                <a:pPr lvl="1"/>
                <a:r>
                  <a:rPr lang="en-US" dirty="0"/>
                  <a:t>Message =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0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  <m:r>
                      <a:rPr lang="en-US" b="0" i="0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d>
                          <m:d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dirty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0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is learned.</a:t>
                </a:r>
              </a:p>
              <a:p>
                <a:r>
                  <a:rPr lang="en-US" dirty="0"/>
                  <a:t>Decoder: </a:t>
                </a:r>
                <a:r>
                  <a:rPr lang="en-US" dirty="0" err="1"/>
                  <a:t>DistMult</a:t>
                </a:r>
                <a:endParaRPr lang="en-US" dirty="0"/>
              </a:p>
              <a:p>
                <a:pPr lvl="1"/>
                <a:r>
                  <a:rPr lang="en-US" dirty="0"/>
                  <a:t>Probability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dirty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dirty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dirty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Elementwise multiplication.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learned.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3EC4D-B842-F255-412A-5A80971C9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795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4E76-F86D-BA00-90F6-293836F9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E398-E283-BAE6-3F20-13F5CFB4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Predictor Module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82F9E3-3B15-0C31-E912-B974CE6AF9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Pretraining</a:t>
                </a:r>
              </a:p>
              <a:p>
                <a:pPr lvl="1"/>
                <a:r>
                  <a:rPr lang="en-US" dirty="0"/>
                  <a:t>Predict presence or absence of many types of edges in the knowledge graph.</a:t>
                </a:r>
              </a:p>
              <a:p>
                <a:pPr lvl="1"/>
                <a:r>
                  <a:rPr lang="en-US" dirty="0"/>
                  <a:t>Learn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in the encoder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in the decoder.</a:t>
                </a:r>
              </a:p>
              <a:p>
                <a:r>
                  <a:rPr lang="en-US" dirty="0"/>
                  <a:t>Drug-disease specific fine-tuning</a:t>
                </a:r>
              </a:p>
              <a:p>
                <a:pPr lvl="1"/>
                <a:r>
                  <a:rPr lang="en-US" dirty="0"/>
                  <a:t>Keep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and keep training it.</a:t>
                </a:r>
              </a:p>
              <a:p>
                <a:pPr lvl="1"/>
                <a:r>
                  <a:rPr lang="en-US" dirty="0"/>
                  <a:t>Reset and relearn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avoid transfer of counterproductive biases.</a:t>
                </a:r>
              </a:p>
              <a:p>
                <a:pPr lvl="1"/>
                <a:r>
                  <a:rPr lang="en-US" dirty="0"/>
                  <a:t>Train on only drug-disease edge prediction.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82F9E3-3B15-0C31-E912-B974CE6AF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456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FBA65-6669-55C1-97E0-91657DAA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B9ADB-9A1A-1028-AA8C-862D2BFB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Disease Similarity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7DAB8-B0CB-139D-9ED0-8241C6FD7B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Problem: the learned embeddings will be less reliable for rare diseases with fewer connections in the network.</a:t>
                </a:r>
              </a:p>
              <a:p>
                <a:r>
                  <a:rPr lang="en-US" dirty="0"/>
                  <a:t>Solution</a:t>
                </a:r>
              </a:p>
              <a:p>
                <a:pPr lvl="1"/>
                <a:r>
                  <a:rPr lang="en-US" dirty="0"/>
                  <a:t>1. Compute </a:t>
                </a:r>
                <a:r>
                  <a:rPr lang="en-US" i="1" dirty="0"/>
                  <a:t>disease signature</a:t>
                </a:r>
                <a:r>
                  <a:rPr lang="en-US" dirty="0"/>
                  <a:t>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disease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2.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3. Disease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’s </a:t>
                </a:r>
                <a:r>
                  <a:rPr lang="en-US" i="1" dirty="0"/>
                  <a:t>auxiliary embedding,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dirty="0"/>
                  <a:t>, is the weighted average of the raw embeddings of similar diseases (weighted by their similarity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).</a:t>
                </a:r>
              </a:p>
              <a:p>
                <a:pPr lvl="1"/>
                <a:r>
                  <a:rPr lang="en-US" dirty="0"/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dirty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7DAB8-B0CB-139D-9ED0-8241C6FD7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16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598F-D0BF-864F-1656-FB0E8C79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8F37-9C4A-B019-8D60-F9066A32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Explainer Module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72658-A61C-B845-4022-9A830DAAE0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each layer l in the GNN encoder and for each relationship type r, use a small NN to determine whether a source edge’s message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can be masked/ignored for calculating that layer’s embedding of the target node j.</a:t>
                </a:r>
              </a:p>
              <a:p>
                <a:pPr lvl="1"/>
                <a:r>
                  <a:rPr lang="en-US" dirty="0"/>
                  <a:t>Over masked edges we send a generic message dependent on the edge/relationship type instead of sending 0.</a:t>
                </a:r>
              </a:p>
              <a:p>
                <a:r>
                  <a:rPr lang="en-US" dirty="0"/>
                  <a:t>Training learns these NNs—it learns which edges can be ignored to produce embeddings that are similar enough to the real ones.</a:t>
                </a:r>
              </a:p>
              <a:p>
                <a:pPr lvl="1"/>
                <a:r>
                  <a:rPr lang="en-US" dirty="0"/>
                  <a:t>Edges ignored in many layers of the GNN encoder can be ignored in general.</a:t>
                </a:r>
              </a:p>
              <a:p>
                <a:pPr lvl="1"/>
                <a:r>
                  <a:rPr lang="en-US" dirty="0"/>
                  <a:t>Edges that survive are the most useful.</a:t>
                </a:r>
              </a:p>
              <a:p>
                <a:r>
                  <a:rPr lang="en-US" dirty="0"/>
                  <a:t>Make a sparse subgraph of the original KG with the surviving edges.</a:t>
                </a:r>
              </a:p>
              <a:p>
                <a:pPr lvl="1"/>
                <a:r>
                  <a:rPr lang="en-US" dirty="0"/>
                  <a:t>This reveals the most important/likely paths by which a drug treats a disease.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72658-A61C-B845-4022-9A830DAAE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843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5A22D-DC6D-D5A7-AD40-26016D89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FBE-F5E2-2386-7DEF-8B309C12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D7B77-5C1B-D71A-2B61-F2B327FD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benchmarked against 8 methods in prediction accuracy</a:t>
            </a:r>
          </a:p>
          <a:p>
            <a:pPr lvl="1"/>
            <a:r>
              <a:rPr lang="en-US" dirty="0" err="1"/>
              <a:t>TxGNN</a:t>
            </a:r>
            <a:r>
              <a:rPr lang="en-US" dirty="0"/>
              <a:t> was 49.2% better at indications and 35.1% better at contraindications.</a:t>
            </a:r>
          </a:p>
          <a:p>
            <a:r>
              <a:rPr lang="en-US" dirty="0"/>
              <a:t>In zero-shot (accuracy measured with AUPRC)</a:t>
            </a:r>
          </a:p>
          <a:p>
            <a:pPr lvl="1"/>
            <a:r>
              <a:rPr lang="en-US" dirty="0" err="1"/>
              <a:t>TxGNN</a:t>
            </a:r>
            <a:r>
              <a:rPr lang="en-US" dirty="0"/>
              <a:t> was 19.0% better than the next best at indications and 23.9% better than the next best at contraindications.</a:t>
            </a:r>
          </a:p>
          <a:p>
            <a:r>
              <a:rPr lang="en-US" dirty="0"/>
              <a:t>In human evaluation of the explainer module, experts found explanations (paths in the KG) accurate, trustworthy, and useful.</a:t>
            </a:r>
          </a:p>
          <a:p>
            <a:r>
              <a:rPr lang="en-US" dirty="0"/>
              <a:t>Many of </a:t>
            </a:r>
            <a:r>
              <a:rPr lang="en-US" dirty="0" err="1"/>
              <a:t>TxGNN’s</a:t>
            </a:r>
            <a:r>
              <a:rPr lang="en-US" dirty="0"/>
              <a:t> predictions align with off-label prescriptions.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0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4C723-BA0D-E6BF-B3D4-B5A98116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8357-39D6-14FF-AEEA-72BC61BE0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9394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</TotalTime>
  <Words>655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Wingdings</vt:lpstr>
      <vt:lpstr>Office Theme</vt:lpstr>
      <vt:lpstr>A foundation model for clinician-centered drug repurposing</vt:lpstr>
      <vt:lpstr>Motivation: Why Drug Repurposing?</vt:lpstr>
      <vt:lpstr>What is TxGNN</vt:lpstr>
      <vt:lpstr>TxGNN Modules</vt:lpstr>
      <vt:lpstr>Predictor Module</vt:lpstr>
      <vt:lpstr>Predictor Module Training</vt:lpstr>
      <vt:lpstr>Disease Similarity Mechanism</vt:lpstr>
      <vt:lpstr>Explainer Module</vt:lpstr>
      <vt:lpstr>Results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Brown</dc:creator>
  <cp:lastModifiedBy>Ian Brown</cp:lastModifiedBy>
  <cp:revision>29</cp:revision>
  <dcterms:created xsi:type="dcterms:W3CDTF">2025-10-16T01:13:20Z</dcterms:created>
  <dcterms:modified xsi:type="dcterms:W3CDTF">2025-10-21T13:31:22Z</dcterms:modified>
</cp:coreProperties>
</file>