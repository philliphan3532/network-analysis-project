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1" r:id="rId2"/>
    <p:sldId id="286" r:id="rId3"/>
    <p:sldId id="287" r:id="rId4"/>
    <p:sldId id="276" r:id="rId5"/>
    <p:sldId id="288" r:id="rId6"/>
    <p:sldId id="290" r:id="rId7"/>
    <p:sldId id="289" r:id="rId8"/>
    <p:sldId id="291" r:id="rId9"/>
    <p:sldId id="293" r:id="rId10"/>
    <p:sldId id="294" r:id="rId11"/>
    <p:sldId id="295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pos="7392" userDrawn="1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16" y="392"/>
      </p:cViewPr>
      <p:guideLst>
        <p:guide orient="horz" pos="864"/>
        <p:guide pos="288"/>
        <p:guide pos="7392"/>
        <p:guide orient="horz" pos="672"/>
        <p:guide orient="horz" pos="216"/>
        <p:guide orient="horz"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594D7-89D9-44DF-8EC4-339EC9FF5C1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79EED-C460-4751-8E52-D18C6054A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7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A8D2-7801-4C1A-8174-6461E62C0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CCA18-2CDE-4DFC-BD38-534A78EBE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463E8-84B5-4771-B306-9BD537BB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8388D-7049-4A58-ADEF-069566DE167C}" type="datetime1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DAFE3-1E93-4F0F-9D33-8FC7EBD0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BB345-F763-43E1-9677-9C8B4679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7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E30E-2CF4-4C28-A728-ACC9709B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D7D78-1CBF-4FC3-914C-F3FB674F3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7800" indent="-177800">
              <a:buClr>
                <a:srgbClr val="102747"/>
              </a:buClr>
              <a:buFont typeface="Garamond" panose="02020404030301010803" pitchFamily="18" charset="0"/>
              <a:buChar char="›"/>
              <a:defRPr/>
            </a:lvl1pPr>
            <a:lvl2pPr marL="342900" indent="-165100">
              <a:buClr>
                <a:srgbClr val="102747"/>
              </a:buClr>
              <a:buFont typeface="Garamond" panose="02020404030301010803" pitchFamily="18" charset="0"/>
              <a:buChar char="›"/>
              <a:defRPr/>
            </a:lvl2pPr>
            <a:lvl3pPr marL="520700" indent="-165100"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/>
            </a:lvl3pPr>
            <a:lvl4pPr marL="685800" indent="-177800"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/>
            </a:lvl4pPr>
            <a:lvl5pPr marL="863600" indent="-177800"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459B1-99F0-4BD1-8B0B-58723E65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679C-196D-4DE0-8A42-E5ADEB72970E}" type="datetime1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E4102-C2B4-4A47-9F34-AB569C93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B167-E2CC-4E62-8049-AFC7D64D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4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01E3-CDD6-4188-8C1C-C98FC9C3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61369-1D30-4C1E-9595-48AC121A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DAB11-A9B4-4500-BF8F-B50C2BB4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4ED3D-CB9B-48CA-9D94-084D6089EB93}" type="datetime1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72044-A45B-41EA-930C-5263ADC4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5C8D7-6F28-4815-9EE3-1AC310BBF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7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24E2-8BD4-4D5F-8392-7AD00B78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613C7-50F2-424F-BE7F-7DE7F4441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18EE6-5835-4D32-A248-0BDDC8921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169D1-83B0-400F-9319-38E8753A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89B3-530D-4855-BCB9-DEB09A7CF906}" type="datetime1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3FEED-4036-4191-A42E-A183CD03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01FE4-4C37-487F-8A3F-7F8C96BE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1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9C24-40E6-4317-A009-BC709DF4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34740-2740-4357-8B9E-D5EDF7805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66345-5C80-4EA8-95D9-0896444A9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0ECDC-8899-47DC-82BF-4A970E295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B3B67-BBA0-4D0C-A8CF-852BC026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A4E01C-3297-4635-8452-9091983D5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EFAF-07A3-4695-BB79-64B21819070B}" type="datetime1">
              <a:rPr lang="en-US" smtClean="0"/>
              <a:t>10/12/25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4BF24-974A-42CF-A4DD-3F77B75E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0926F-924C-40C9-90A6-2C476AE8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4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4EE6-F7BA-4C11-AA2C-6A393C9A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FEA8C-7DFC-4CD9-AEF4-7B81F2BD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83797-4250-4407-9785-E305430B2792}" type="datetime1">
              <a:rPr lang="en-US" smtClean="0"/>
              <a:t>10/12/25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D82DD-A71A-499A-A598-A6104FD22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A7A6E-C67E-4F89-ADB1-226826F6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9F175-0F57-4EB3-B265-34517C43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07AB-517D-4491-9172-EBFFC880A0F5}" type="datetime1">
              <a:rPr lang="en-US" smtClean="0"/>
              <a:t>10/12/25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84187-B78A-4088-BD9A-54F6B432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3A28F-8FE9-46BF-A895-C31A1493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2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AC224-3EAF-4EE6-A0D5-9A804E237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26DD-F5E8-414C-BDF0-C2F770A5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F688C-1DE6-44DD-988C-9CB1769E2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98EE2-070C-405B-B3AD-0DE7B0F7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0FA8-FD76-4777-81F3-EA849AAF49D9}" type="datetime1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71937-FE79-46E8-880E-54563256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6B417-789C-4CF7-8948-08A45745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6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10891-E02B-4A29-A955-5E06630F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5FE48-8E40-498D-AA77-9E67F7F84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DF13E-98FF-4848-9799-8BCF36FB4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BA9BE-8217-4F2F-AC35-168B6095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968D-F649-4BB4-A9DF-559D2CA7055F}" type="datetime1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63AB8-90C3-4C6E-8ABE-02803C02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9F9E5-7A14-4B53-85EF-77D661FA7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50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EB78-F0A3-4057-B8C5-D4FB73DB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F6B5E-9BC2-47EC-9A21-4DF177161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8AB22-76D6-44FD-85AC-FC624D4C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6A9BD-FB71-48D4-9715-A1838906E938}" type="datetime1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27D41-8927-4140-9BBB-3240D703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790AD-13EB-472C-B70F-04CE90F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3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6AB713-8A5F-44D4-9418-40DEFBCA6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F773D-F7CE-4EC2-8150-A14C1DBB4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2FFE4-6D17-4A33-809A-DE4018BA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6700E-BABF-48D7-91ED-16FA9F56B942}" type="datetime1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2F211-47EB-4D78-AA5E-7ACDE0062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D26BA-3599-4EE3-9F68-E75EFE95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C7549-7BA2-4483-80DE-044F01FB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F9A2D-9010-4365-9F0A-6371B64B0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3941-B14F-4EAD-86E2-820976428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026A1-4838-47B3-BDB6-2E6C2423384E}" type="datetime1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0FA04-5677-48F2-93C7-E80C17D69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9B155-7C67-4B01-800F-B47EEE4F9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5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4F99-ED06-2472-7276-74A50D82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A6134EFE-445C-6033-C98F-107B1B5F8E08}"/>
              </a:ext>
            </a:extLst>
          </p:cNvPr>
          <p:cNvSpPr/>
          <p:nvPr/>
        </p:nvSpPr>
        <p:spPr>
          <a:xfrm>
            <a:off x="9299732" y="0"/>
            <a:ext cx="2892267" cy="68580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Date Placeholder 1032">
            <a:extLst>
              <a:ext uri="{FF2B5EF4-FFF2-40B4-BE49-F238E27FC236}">
                <a16:creationId xmlns:a16="http://schemas.microsoft.com/office/drawing/2014/main" id="{5A81083E-8496-6777-2130-FA2AC8D8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84383" y="6313047"/>
            <a:ext cx="2743200" cy="365125"/>
          </a:xfrm>
        </p:spPr>
        <p:txBody>
          <a:bodyPr lIns="0" tIns="0" rIns="0" bIns="0"/>
          <a:lstStyle/>
          <a:p>
            <a:pPr algn="r"/>
            <a:fld id="{6948E918-F6D5-4B5F-9310-1C1B6CE81CE7}" type="datetime1">
              <a:rPr lang="en-US" sz="1600" smtClean="0">
                <a:solidFill>
                  <a:schemeClr val="bg1"/>
                </a:solidFill>
              </a:rPr>
              <a:pPr algn="r"/>
              <a:t>10/12/25</a:t>
            </a:fld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BF2C7BFB-165D-2D10-EA2E-3BC1C65AE620}"/>
              </a:ext>
            </a:extLst>
          </p:cNvPr>
          <p:cNvCxnSpPr>
            <a:cxnSpLocks/>
          </p:cNvCxnSpPr>
          <p:nvPr/>
        </p:nvCxnSpPr>
        <p:spPr>
          <a:xfrm>
            <a:off x="0" y="6495609"/>
            <a:ext cx="92997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0204324-AD43-936D-8931-81EFF81F8CF4}"/>
              </a:ext>
            </a:extLst>
          </p:cNvPr>
          <p:cNvSpPr/>
          <p:nvPr/>
        </p:nvSpPr>
        <p:spPr>
          <a:xfrm>
            <a:off x="292866" y="2635749"/>
            <a:ext cx="11148810" cy="3494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8DC439-B442-0C97-B2E8-150A1BE489CE}"/>
              </a:ext>
            </a:extLst>
          </p:cNvPr>
          <p:cNvGrpSpPr/>
          <p:nvPr/>
        </p:nvGrpSpPr>
        <p:grpSpPr>
          <a:xfrm>
            <a:off x="611448" y="3139235"/>
            <a:ext cx="10402464" cy="2048223"/>
            <a:chOff x="949395" y="1586463"/>
            <a:chExt cx="9093598" cy="204822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6520D29-4D4F-4601-6803-F0D4B5947174}"/>
                </a:ext>
              </a:extLst>
            </p:cNvPr>
            <p:cNvSpPr txBox="1"/>
            <p:nvPr/>
          </p:nvSpPr>
          <p:spPr>
            <a:xfrm>
              <a:off x="1044840" y="1586463"/>
              <a:ext cx="8998153" cy="184665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6000" dirty="0">
                  <a:solidFill>
                    <a:srgbClr val="102747"/>
                  </a:solidFill>
                  <a:latin typeface="Garamond" panose="02020404030301010803" pitchFamily="18" charset="0"/>
                </a:rPr>
                <a:t>Modeling for Outbreak Prediction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9197CDE-C2F6-FFA3-BA7C-306A1C2889A3}"/>
                </a:ext>
              </a:extLst>
            </p:cNvPr>
            <p:cNvCxnSpPr>
              <a:cxnSpLocks/>
            </p:cNvCxnSpPr>
            <p:nvPr/>
          </p:nvCxnSpPr>
          <p:spPr>
            <a:xfrm>
              <a:off x="949395" y="3634686"/>
              <a:ext cx="899815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28BCC53-D948-A7F9-952B-8A9CB11651E1}"/>
              </a:ext>
            </a:extLst>
          </p:cNvPr>
          <p:cNvCxnSpPr>
            <a:cxnSpLocks/>
          </p:cNvCxnSpPr>
          <p:nvPr/>
        </p:nvCxnSpPr>
        <p:spPr>
          <a:xfrm>
            <a:off x="9299732" y="6495609"/>
            <a:ext cx="8562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5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C957-B4B4-39BE-93C0-4AF5A5FBF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DB72-28AF-B964-A5E4-51188B27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65125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 dirty="0"/>
              <a:t>Research 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202A17-86D8-2131-C34F-BEB03F6FEE96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622FE-1EE4-3127-05E2-C6739C23A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378703-342B-DB76-5AE6-20C0C79D7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13FF5D-9BE0-DDED-7C00-D1FEE652B9C6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4D08426-86DF-87F6-E9EE-C2727296482E}"/>
              </a:ext>
            </a:extLst>
          </p:cNvPr>
          <p:cNvSpPr txBox="1">
            <a:spLocks/>
          </p:cNvSpPr>
          <p:nvPr/>
        </p:nvSpPr>
        <p:spPr>
          <a:xfrm>
            <a:off x="6105525" y="2350005"/>
            <a:ext cx="5638800" cy="18466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>
                <a:solidFill>
                  <a:srgbClr val="102747"/>
                </a:solidFill>
              </a:rPr>
              <a:t>Motivation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>
                <a:solidFill>
                  <a:srgbClr val="102747"/>
                </a:solidFill>
              </a:rPr>
              <a:t>There is a lack of standardized screening criteria for VRE. We hope to make strides in proposing a model to predict VRE carriers.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endParaRPr lang="en-US" sz="2000" dirty="0">
              <a:solidFill>
                <a:srgbClr val="102747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429B27-483A-44FF-3BA7-A5B76FC83C49}"/>
              </a:ext>
            </a:extLst>
          </p:cNvPr>
          <p:cNvSpPr txBox="1">
            <a:spLocks/>
          </p:cNvSpPr>
          <p:nvPr/>
        </p:nvSpPr>
        <p:spPr>
          <a:xfrm>
            <a:off x="476251" y="2355973"/>
            <a:ext cx="5619749" cy="35394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 i="1" dirty="0">
                <a:solidFill>
                  <a:srgbClr val="102747"/>
                </a:solidFill>
              </a:rPr>
              <a:t>VRE (Vancomycin-Resistant Enterococcus)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>
                <a:solidFill>
                  <a:srgbClr val="102747"/>
                </a:solidFill>
              </a:rPr>
              <a:t>VRE are gut bacteria that have become resistant to vancomycin, one of the last-line antibiotics. They can live harmlessly in the intestine but spread easily in hospitals via surfaces and staff contact.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endParaRPr lang="en-US" sz="2000" dirty="0">
              <a:solidFill>
                <a:srgbClr val="102747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endParaRPr lang="en-US" sz="2000" dirty="0">
              <a:solidFill>
                <a:srgbClr val="102747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endParaRPr lang="en-US" sz="2000" dirty="0">
              <a:solidFill>
                <a:srgbClr val="102747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endParaRPr lang="en-US" sz="2000" dirty="0">
              <a:solidFill>
                <a:srgbClr val="10274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E282-8EAF-6AB2-3457-15CB06CECE9A}"/>
              </a:ext>
            </a:extLst>
          </p:cNvPr>
          <p:cNvSpPr txBox="1">
            <a:spLocks/>
          </p:cNvSpPr>
          <p:nvPr/>
        </p:nvSpPr>
        <p:spPr>
          <a:xfrm>
            <a:off x="476250" y="1400626"/>
            <a:ext cx="10737850" cy="7386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rgbClr val="102747"/>
                </a:solidFill>
              </a:rPr>
              <a:t>Can a temporal, heterogeneous hospital graph + GNN identify undetected VRE carriers early enough to guide screening/isolation? </a:t>
            </a:r>
          </a:p>
        </p:txBody>
      </p:sp>
    </p:spTree>
    <p:extLst>
      <p:ext uri="{BB962C8B-B14F-4D97-AF65-F5344CB8AC3E}">
        <p14:creationId xmlns:p14="http://schemas.microsoft.com/office/powerpoint/2010/main" val="415191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BB29-5E95-E0FF-0A8A-298FFD51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6C74-F21D-8BF2-C618-ACFC562FB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65125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 dirty="0"/>
              <a:t>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A0872F-E698-CD02-50C4-9D8956C952B9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1E8F2-C884-D265-06F2-CC8A2A39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BEAF9AA-B837-BA04-3678-EF3D29FC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F9F7D6-E10D-40F5-5B32-C17BEC75373A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8942CA-9D1C-8F47-2E61-FDF15700CDD5}"/>
              </a:ext>
            </a:extLst>
          </p:cNvPr>
          <p:cNvSpPr/>
          <p:nvPr/>
        </p:nvSpPr>
        <p:spPr>
          <a:xfrm>
            <a:off x="457199" y="1900239"/>
            <a:ext cx="2703610" cy="3766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45FAC6-B2AB-59DD-A9BA-FFE5F7892098}"/>
              </a:ext>
            </a:extLst>
          </p:cNvPr>
          <p:cNvSpPr/>
          <p:nvPr/>
        </p:nvSpPr>
        <p:spPr>
          <a:xfrm>
            <a:off x="3308845" y="1900239"/>
            <a:ext cx="2703610" cy="3766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A07690-5636-ACBB-971A-432F5E733485}"/>
              </a:ext>
            </a:extLst>
          </p:cNvPr>
          <p:cNvSpPr/>
          <p:nvPr/>
        </p:nvSpPr>
        <p:spPr>
          <a:xfrm>
            <a:off x="6160492" y="1900239"/>
            <a:ext cx="2703610" cy="3766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DFC87E-A38E-B49E-D73F-742C2CB2EF05}"/>
              </a:ext>
            </a:extLst>
          </p:cNvPr>
          <p:cNvSpPr/>
          <p:nvPr/>
        </p:nvSpPr>
        <p:spPr>
          <a:xfrm>
            <a:off x="9012138" y="1900239"/>
            <a:ext cx="2703610" cy="3766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F4CF553-3A01-0EFD-5FD1-4E568A331B54}"/>
              </a:ext>
            </a:extLst>
          </p:cNvPr>
          <p:cNvSpPr txBox="1">
            <a:spLocks/>
          </p:cNvSpPr>
          <p:nvPr/>
        </p:nvSpPr>
        <p:spPr>
          <a:xfrm>
            <a:off x="692147" y="2208506"/>
            <a:ext cx="2233714" cy="264687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Setting/Scope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Single Tertiary Hospital, 2019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EHR extract of &gt;8000 patients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125,947 recorded interactions/movements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16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174D20F-29A8-D629-AF41-5404993599CB}"/>
              </a:ext>
            </a:extLst>
          </p:cNvPr>
          <p:cNvCxnSpPr>
            <a:cxnSpLocks/>
          </p:cNvCxnSpPr>
          <p:nvPr/>
        </p:nvCxnSpPr>
        <p:spPr>
          <a:xfrm>
            <a:off x="692147" y="2610902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8A2094C-5420-914C-884F-CF82CF7C72C4}"/>
              </a:ext>
            </a:extLst>
          </p:cNvPr>
          <p:cNvSpPr txBox="1">
            <a:spLocks/>
          </p:cNvSpPr>
          <p:nvPr/>
        </p:nvSpPr>
        <p:spPr>
          <a:xfrm>
            <a:off x="3543793" y="2208505"/>
            <a:ext cx="2233714" cy="150810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Labels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Daily VRE status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ICD diagnoses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Barthel indices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421779-6BA4-266D-A8C3-F20209EE22F7}"/>
              </a:ext>
            </a:extLst>
          </p:cNvPr>
          <p:cNvCxnSpPr>
            <a:cxnSpLocks/>
          </p:cNvCxnSpPr>
          <p:nvPr/>
        </p:nvCxnSpPr>
        <p:spPr>
          <a:xfrm>
            <a:off x="3543793" y="2610901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43A834F9-7FFB-469D-FDC2-D677A35EFB3B}"/>
              </a:ext>
            </a:extLst>
          </p:cNvPr>
          <p:cNvSpPr txBox="1">
            <a:spLocks/>
          </p:cNvSpPr>
          <p:nvPr/>
        </p:nvSpPr>
        <p:spPr>
          <a:xfrm>
            <a:off x="6395439" y="2206073"/>
            <a:ext cx="2233714" cy="16004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Origin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From patient data management system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Laboratory information system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BCBD24-5BDD-F711-6F3D-31A85C219540}"/>
              </a:ext>
            </a:extLst>
          </p:cNvPr>
          <p:cNvCxnSpPr>
            <a:cxnSpLocks/>
          </p:cNvCxnSpPr>
          <p:nvPr/>
        </p:nvCxnSpPr>
        <p:spPr>
          <a:xfrm>
            <a:off x="6395439" y="2608469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9547A44F-A582-F33F-575F-78335F76E8DB}"/>
              </a:ext>
            </a:extLst>
          </p:cNvPr>
          <p:cNvSpPr txBox="1">
            <a:spLocks/>
          </p:cNvSpPr>
          <p:nvPr/>
        </p:nvSpPr>
        <p:spPr>
          <a:xfrm>
            <a:off x="9266139" y="2206073"/>
            <a:ext cx="2233714" cy="12003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Privacy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Dataset not publicly shareable for data-protection reasons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261ACD9-A55A-C83B-18C6-6C1663EFCEDB}"/>
              </a:ext>
            </a:extLst>
          </p:cNvPr>
          <p:cNvCxnSpPr>
            <a:cxnSpLocks/>
          </p:cNvCxnSpPr>
          <p:nvPr/>
        </p:nvCxnSpPr>
        <p:spPr>
          <a:xfrm>
            <a:off x="9266139" y="2608469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08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23D1C1-BC0E-4C47-992B-9FA9BDE3C491}"/>
              </a:ext>
            </a:extLst>
          </p:cNvPr>
          <p:cNvSpPr/>
          <p:nvPr/>
        </p:nvSpPr>
        <p:spPr>
          <a:xfrm>
            <a:off x="0" y="4038601"/>
            <a:ext cx="855406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D462C8-611D-44B3-AE8B-598171DECC85}"/>
              </a:ext>
            </a:extLst>
          </p:cNvPr>
          <p:cNvGrpSpPr/>
          <p:nvPr/>
        </p:nvGrpSpPr>
        <p:grpSpPr>
          <a:xfrm>
            <a:off x="1297542" y="4266919"/>
            <a:ext cx="8063425" cy="1638863"/>
            <a:chOff x="810520" y="2509978"/>
            <a:chExt cx="8063425" cy="163886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1652B6-64CF-458A-8270-964052D22D1A}"/>
                </a:ext>
              </a:extLst>
            </p:cNvPr>
            <p:cNvSpPr txBox="1"/>
            <p:nvPr/>
          </p:nvSpPr>
          <p:spPr>
            <a:xfrm>
              <a:off x="810520" y="2509978"/>
              <a:ext cx="8063425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6000" dirty="0">
                  <a:solidFill>
                    <a:srgbClr val="102747"/>
                  </a:solidFill>
                  <a:latin typeface="Garamond" panose="02020404030301010803" pitchFamily="18" charset="0"/>
                </a:rPr>
                <a:t>Network Construction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43BBBF-3E97-4402-B3CD-F2FB8322F17B}"/>
                </a:ext>
              </a:extLst>
            </p:cNvPr>
            <p:cNvSpPr txBox="1"/>
            <p:nvPr/>
          </p:nvSpPr>
          <p:spPr>
            <a:xfrm>
              <a:off x="810520" y="3717954"/>
              <a:ext cx="80634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800" dirty="0">
                  <a:solidFill>
                    <a:srgbClr val="102747"/>
                  </a:solidFill>
                  <a:latin typeface="Garamond" panose="02020404030301010803" pitchFamily="18" charset="0"/>
                </a:rPr>
                <a:t>Heterogeneous, Undirected, Unweighted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151CEB8-FF46-49C5-A055-B63F891BB0BC}"/>
                </a:ext>
              </a:extLst>
            </p:cNvPr>
            <p:cNvCxnSpPr>
              <a:cxnSpLocks/>
            </p:cNvCxnSpPr>
            <p:nvPr/>
          </p:nvCxnSpPr>
          <p:spPr>
            <a:xfrm>
              <a:off x="810520" y="3575631"/>
              <a:ext cx="80634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91BF65B-946B-4165-A78D-059FD267016F}"/>
              </a:ext>
            </a:extLst>
          </p:cNvPr>
          <p:cNvSpPr/>
          <p:nvPr/>
        </p:nvSpPr>
        <p:spPr>
          <a:xfrm>
            <a:off x="9803102" y="4038601"/>
            <a:ext cx="2388897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4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73F2-FDDE-A7CD-D33E-DBE542D7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4986-E599-8CE0-6BE7-E38F9743B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65125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 dirty="0"/>
              <a:t>Nodes and Edges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5891CB-48EE-D580-5A55-E8260B66CDEA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BFA67-D39B-0895-8E8A-049A63CB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2EFBD2-7226-CA1B-4E72-2E1A9968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3FD556-F26A-32C8-F9EB-28029B896A81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372B2B9-F5DB-3E70-D34B-6F712B529547}"/>
              </a:ext>
            </a:extLst>
          </p:cNvPr>
          <p:cNvSpPr/>
          <p:nvPr/>
        </p:nvSpPr>
        <p:spPr>
          <a:xfrm>
            <a:off x="457199" y="1405719"/>
            <a:ext cx="2703610" cy="4260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3CAAE9A-216F-8BF3-00EA-A03786C91201}"/>
              </a:ext>
            </a:extLst>
          </p:cNvPr>
          <p:cNvSpPr txBox="1">
            <a:spLocks/>
          </p:cNvSpPr>
          <p:nvPr/>
        </p:nvSpPr>
        <p:spPr>
          <a:xfrm>
            <a:off x="692147" y="1761827"/>
            <a:ext cx="2233714" cy="295465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Patients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Age, Sex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Care Level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Open Wounds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Days since admission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No weights, exposure is implied via repeated links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16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A2E8EE-BE37-DCF1-3E4B-F2D6F57E18AE}"/>
              </a:ext>
            </a:extLst>
          </p:cNvPr>
          <p:cNvCxnSpPr>
            <a:cxnSpLocks/>
          </p:cNvCxnSpPr>
          <p:nvPr/>
        </p:nvCxnSpPr>
        <p:spPr>
          <a:xfrm>
            <a:off x="692147" y="2164223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C049BA3-55D2-28B4-9FE9-234DD7419121}"/>
              </a:ext>
            </a:extLst>
          </p:cNvPr>
          <p:cNvSpPr/>
          <p:nvPr/>
        </p:nvSpPr>
        <p:spPr>
          <a:xfrm>
            <a:off x="9031190" y="1405719"/>
            <a:ext cx="2703610" cy="4260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567C4CC-85CF-D977-7061-E07F48C423BC}"/>
              </a:ext>
            </a:extLst>
          </p:cNvPr>
          <p:cNvSpPr txBox="1">
            <a:spLocks/>
          </p:cNvSpPr>
          <p:nvPr/>
        </p:nvSpPr>
        <p:spPr>
          <a:xfrm>
            <a:off x="9266138" y="1761827"/>
            <a:ext cx="2233714" cy="255454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Organizational Units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Services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Clinics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150 Org Units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Patients are linked to Org Unit visits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1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70D8DF-511B-15F7-5BAF-B0AA6FDAAF9F}"/>
              </a:ext>
            </a:extLst>
          </p:cNvPr>
          <p:cNvCxnSpPr>
            <a:cxnSpLocks/>
          </p:cNvCxnSpPr>
          <p:nvPr/>
        </p:nvCxnSpPr>
        <p:spPr>
          <a:xfrm>
            <a:off x="9266138" y="2164223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5E1E084-A715-2545-BE83-04C0E5E7B2CA}"/>
              </a:ext>
            </a:extLst>
          </p:cNvPr>
          <p:cNvSpPr/>
          <p:nvPr/>
        </p:nvSpPr>
        <p:spPr>
          <a:xfrm>
            <a:off x="6182421" y="1405719"/>
            <a:ext cx="2703610" cy="4260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11F021D-858F-A604-19DC-C1D3A3CEDCD1}"/>
              </a:ext>
            </a:extLst>
          </p:cNvPr>
          <p:cNvSpPr txBox="1">
            <a:spLocks/>
          </p:cNvSpPr>
          <p:nvPr/>
        </p:nvSpPr>
        <p:spPr>
          <a:xfrm>
            <a:off x="6330948" y="1761827"/>
            <a:ext cx="2233714" cy="255454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Rooms/Beds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606 rooms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Rooms sit on wards and on organizational units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770 bed places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Beds sit on rooms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16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B064513-08AF-E888-6819-69801C43ECDF}"/>
              </a:ext>
            </a:extLst>
          </p:cNvPr>
          <p:cNvCxnSpPr>
            <a:cxnSpLocks/>
          </p:cNvCxnSpPr>
          <p:nvPr/>
        </p:nvCxnSpPr>
        <p:spPr>
          <a:xfrm>
            <a:off x="6330948" y="2164223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3389A59-73D3-F6FB-2EF5-DB141563A36B}"/>
              </a:ext>
            </a:extLst>
          </p:cNvPr>
          <p:cNvSpPr/>
          <p:nvPr/>
        </p:nvSpPr>
        <p:spPr>
          <a:xfrm>
            <a:off x="3333652" y="1405719"/>
            <a:ext cx="2703610" cy="4260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64F3DB5-CC35-FC6D-C40A-575FA4C3F592}"/>
              </a:ext>
            </a:extLst>
          </p:cNvPr>
          <p:cNvSpPr txBox="1">
            <a:spLocks/>
          </p:cNvSpPr>
          <p:nvPr/>
        </p:nvSpPr>
        <p:spPr>
          <a:xfrm>
            <a:off x="3509864" y="1761827"/>
            <a:ext cx="2233714" cy="240065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Wards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Various clinical wards including ICUs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39 Total Wards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Binary Feature (ICU or not)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16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81C649-369F-C446-784B-AB98F08A1D8D}"/>
              </a:ext>
            </a:extLst>
          </p:cNvPr>
          <p:cNvCxnSpPr>
            <a:cxnSpLocks/>
          </p:cNvCxnSpPr>
          <p:nvPr/>
        </p:nvCxnSpPr>
        <p:spPr>
          <a:xfrm>
            <a:off x="3509864" y="2164223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55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8E64B-E6DF-DD00-5773-D438E2DF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12F579-CE00-4091-9736-EAF0C44923F0}"/>
              </a:ext>
            </a:extLst>
          </p:cNvPr>
          <p:cNvSpPr/>
          <p:nvPr/>
        </p:nvSpPr>
        <p:spPr>
          <a:xfrm>
            <a:off x="0" y="4038601"/>
            <a:ext cx="3216614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0E3113-BB67-CAA8-E602-3D7A2E0DA8A7}"/>
              </a:ext>
            </a:extLst>
          </p:cNvPr>
          <p:cNvSpPr/>
          <p:nvPr/>
        </p:nvSpPr>
        <p:spPr>
          <a:xfrm>
            <a:off x="8975387" y="4038601"/>
            <a:ext cx="3216612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graph of a patient&#10;&#10;AI-generated content may be incorrect.">
            <a:extLst>
              <a:ext uri="{FF2B5EF4-FFF2-40B4-BE49-F238E27FC236}">
                <a16:creationId xmlns:a16="http://schemas.microsoft.com/office/drawing/2014/main" id="{B1ED9FB1-1C48-87F7-79CC-BACBC1790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613" y="0"/>
            <a:ext cx="57587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5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9BAC6-D0A4-2B53-4842-15E812AB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C0E06D-3148-C419-6A12-93BC979F03AC}"/>
              </a:ext>
            </a:extLst>
          </p:cNvPr>
          <p:cNvSpPr/>
          <p:nvPr/>
        </p:nvSpPr>
        <p:spPr>
          <a:xfrm>
            <a:off x="6560457" y="2888342"/>
            <a:ext cx="5174343" cy="3169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66FA66-A31B-E4E0-C977-6B0CD1C5A2AF}"/>
              </a:ext>
            </a:extLst>
          </p:cNvPr>
          <p:cNvSpPr/>
          <p:nvPr/>
        </p:nvSpPr>
        <p:spPr>
          <a:xfrm>
            <a:off x="457201" y="2888342"/>
            <a:ext cx="5174343" cy="3169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EDCF98-3B95-6A8F-A372-AD1DA911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65125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 dirty="0"/>
              <a:t>Static vs Dynamic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D4EE4-7BB2-BF6C-6332-48945C3BC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829" y="3382518"/>
            <a:ext cx="4405086" cy="2554545"/>
          </a:xfr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800" dirty="0"/>
              <a:t>Single time-collapsed graph for the full period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800" dirty="0"/>
              <a:t>Patients connected via shared spaces across 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800" dirty="0"/>
              <a:t>Simple baseline, learns structural risk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800" dirty="0"/>
              <a:t>May lead to spurious long‑range links across months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9DD1ED-C699-7BAF-CDEF-9ADADCA1E588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5FD6A-0797-0BD6-08A6-BF0C8F20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7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A5B34C-816A-1F13-E26D-EB11BF5A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31082C-7064-9381-B2ED-7191EE53DA27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F3A2C83-118C-E5DE-1055-966AEE91C7D6}"/>
              </a:ext>
            </a:extLst>
          </p:cNvPr>
          <p:cNvSpPr/>
          <p:nvPr/>
        </p:nvSpPr>
        <p:spPr>
          <a:xfrm>
            <a:off x="0" y="1371600"/>
            <a:ext cx="12192000" cy="1516743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9744FC5-D895-F3AA-F808-3CBAF10E0673}"/>
              </a:ext>
            </a:extLst>
          </p:cNvPr>
          <p:cNvSpPr txBox="1">
            <a:spLocks/>
          </p:cNvSpPr>
          <p:nvPr/>
        </p:nvSpPr>
        <p:spPr>
          <a:xfrm>
            <a:off x="6941201" y="3134290"/>
            <a:ext cx="4405086" cy="267765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800" dirty="0"/>
              <a:t>Daily graph G(T) with all patients &amp; spatial relations on day 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800" dirty="0"/>
              <a:t>Temporal edges connect G(T), G(T−1)…G(T−7) (rolling 7‑day context)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800" dirty="0"/>
              <a:t>Patient features restricted to information available up to day 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800" dirty="0"/>
              <a:t>Enables alerting and evolving risk per ward/room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0676A19-42CB-8B64-30F1-DCB96FC65D98}"/>
              </a:ext>
            </a:extLst>
          </p:cNvPr>
          <p:cNvSpPr txBox="1">
            <a:spLocks/>
          </p:cNvSpPr>
          <p:nvPr/>
        </p:nvSpPr>
        <p:spPr>
          <a:xfrm>
            <a:off x="841829" y="1903457"/>
            <a:ext cx="4405086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Static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C1E8A5C-D4E7-6350-DB20-EF1C082F482C}"/>
              </a:ext>
            </a:extLst>
          </p:cNvPr>
          <p:cNvSpPr txBox="1">
            <a:spLocks/>
          </p:cNvSpPr>
          <p:nvPr/>
        </p:nvSpPr>
        <p:spPr>
          <a:xfrm>
            <a:off x="6945085" y="1903457"/>
            <a:ext cx="4405086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Dynamic</a:t>
            </a:r>
          </a:p>
        </p:txBody>
      </p:sp>
    </p:spTree>
    <p:extLst>
      <p:ext uri="{BB962C8B-B14F-4D97-AF65-F5344CB8AC3E}">
        <p14:creationId xmlns:p14="http://schemas.microsoft.com/office/powerpoint/2010/main" val="3810728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59376-9120-FA09-85FB-B08135B6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AED3CA2-63DE-3699-DE92-3D96D567F905}"/>
              </a:ext>
            </a:extLst>
          </p:cNvPr>
          <p:cNvSpPr/>
          <p:nvPr/>
        </p:nvSpPr>
        <p:spPr>
          <a:xfrm>
            <a:off x="4361069" y="15902"/>
            <a:ext cx="7838884" cy="6857993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4B081-09E0-61A9-09CD-A3682335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noFill/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8</a:t>
            </a:fld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34CD3E-E6FA-3771-7069-8804669FC941}"/>
              </a:ext>
            </a:extLst>
          </p:cNvPr>
          <p:cNvCxnSpPr>
            <a:cxnSpLocks/>
          </p:cNvCxnSpPr>
          <p:nvPr/>
        </p:nvCxnSpPr>
        <p:spPr>
          <a:xfrm>
            <a:off x="5280338" y="6457950"/>
            <a:ext cx="59337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D1D4AAB2-A768-2CBC-1CCC-A85822B5AFE4}"/>
              </a:ext>
            </a:extLst>
          </p:cNvPr>
          <p:cNvSpPr txBox="1">
            <a:spLocks/>
          </p:cNvSpPr>
          <p:nvPr/>
        </p:nvSpPr>
        <p:spPr>
          <a:xfrm>
            <a:off x="476251" y="650768"/>
            <a:ext cx="3454304" cy="39164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Metrics</a:t>
            </a: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6F7471ED-942B-5D16-CC71-06E18541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vert="horz" lIns="0" tIns="45720" rIns="91440" bIns="45720" rtlCol="0" anchor="ctr"/>
          <a:lstStyle/>
          <a:p>
            <a:pPr algn="l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33DE84-2422-9BE1-09BA-5665F765E605}"/>
              </a:ext>
            </a:extLst>
          </p:cNvPr>
          <p:cNvCxnSpPr>
            <a:cxnSpLocks/>
          </p:cNvCxnSpPr>
          <p:nvPr/>
        </p:nvCxnSpPr>
        <p:spPr>
          <a:xfrm>
            <a:off x="476250" y="1287864"/>
            <a:ext cx="34543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17DF7C-41EB-626E-29EC-6B390FE9371D}"/>
              </a:ext>
            </a:extLst>
          </p:cNvPr>
          <p:cNvCxnSpPr>
            <a:cxnSpLocks/>
          </p:cNvCxnSpPr>
          <p:nvPr/>
        </p:nvCxnSpPr>
        <p:spPr>
          <a:xfrm>
            <a:off x="4723238" y="6457950"/>
            <a:ext cx="5571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F4BC3BC-5BD0-5E75-0864-987BA394A58C}"/>
              </a:ext>
            </a:extLst>
          </p:cNvPr>
          <p:cNvGrpSpPr/>
          <p:nvPr/>
        </p:nvGrpSpPr>
        <p:grpSpPr>
          <a:xfrm>
            <a:off x="5280338" y="1042414"/>
            <a:ext cx="6065948" cy="4405107"/>
            <a:chOff x="5805714" y="911463"/>
            <a:chExt cx="5604969" cy="440510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E8C69A2-5545-ED13-4E30-EC15570DD8B3}"/>
                </a:ext>
              </a:extLst>
            </p:cNvPr>
            <p:cNvGrpSpPr/>
            <p:nvPr/>
          </p:nvGrpSpPr>
          <p:grpSpPr>
            <a:xfrm>
              <a:off x="5805715" y="911463"/>
              <a:ext cx="5604968" cy="1292015"/>
              <a:chOff x="5805715" y="650768"/>
              <a:chExt cx="5604968" cy="129201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6A789DA-EA6E-07FD-67D1-BDC5A0FFC310}"/>
                  </a:ext>
                </a:extLst>
              </p:cNvPr>
              <p:cNvSpPr/>
              <p:nvPr/>
            </p:nvSpPr>
            <p:spPr>
              <a:xfrm>
                <a:off x="5805715" y="650768"/>
                <a:ext cx="469615" cy="12920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sz="2800" b="1" dirty="0">
                    <a:solidFill>
                      <a:srgbClr val="102747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DE235A5F-F6A3-74D2-037E-6C3AF2BB67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2317" y="650768"/>
                <a:ext cx="4958366" cy="123110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marL="177800" indent="-1778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207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636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>
                    <a:solidFill>
                      <a:schemeClr val="bg1"/>
                    </a:solidFill>
                  </a:rPr>
                  <a:t>Structure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endParaRPr lang="en-US" sz="8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bg1"/>
                  </a:buClr>
                  <a:buFont typeface="Wingdings" pitchFamily="2" charset="2"/>
                  <a:buChar char="Ø"/>
                </a:pPr>
                <a:r>
                  <a:rPr lang="en-US" sz="1400" dirty="0">
                    <a:solidFill>
                      <a:schemeClr val="bg1"/>
                    </a:solidFill>
                  </a:rPr>
                  <a:t>Degree/Turnover (Ranked by no. of contacts and rate of churn)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bg1"/>
                  </a:buClr>
                  <a:buFont typeface="Wingdings" pitchFamily="2" charset="2"/>
                  <a:buChar char="Ø"/>
                </a:pPr>
                <a:r>
                  <a:rPr lang="en-US" sz="1400" dirty="0">
                    <a:solidFill>
                      <a:schemeClr val="bg1"/>
                    </a:solidFill>
                  </a:rPr>
                  <a:t>Betweenness (Bridges that move risk e.g. CT room)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bg1"/>
                  </a:buClr>
                  <a:buFont typeface="Wingdings" pitchFamily="2" charset="2"/>
                  <a:buChar char="Ø"/>
                </a:pPr>
                <a:r>
                  <a:rPr lang="en-US" sz="1400" dirty="0">
                    <a:solidFill>
                      <a:schemeClr val="bg1"/>
                    </a:solidFill>
                  </a:rPr>
                  <a:t>Clustering (Local outbreaks)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9CE90D5-5439-6EED-7D28-D2107E012FA2}"/>
                </a:ext>
              </a:extLst>
            </p:cNvPr>
            <p:cNvGrpSpPr/>
            <p:nvPr/>
          </p:nvGrpSpPr>
          <p:grpSpPr>
            <a:xfrm>
              <a:off x="5805714" y="2478932"/>
              <a:ext cx="5604969" cy="1292015"/>
              <a:chOff x="5805714" y="2464156"/>
              <a:chExt cx="5604969" cy="12920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AC292AB-4778-1F71-F670-E7EC44E0971A}"/>
                  </a:ext>
                </a:extLst>
              </p:cNvPr>
              <p:cNvSpPr/>
              <p:nvPr/>
            </p:nvSpPr>
            <p:spPr>
              <a:xfrm>
                <a:off x="5805714" y="2464156"/>
                <a:ext cx="469615" cy="12920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sz="2800" b="1" dirty="0">
                    <a:solidFill>
                      <a:srgbClr val="102747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E8820A81-F166-CA66-64F5-08E88A050F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2317" y="2464156"/>
                <a:ext cx="4958366" cy="123110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marL="177800" indent="-1778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207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636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>
                    <a:solidFill>
                      <a:schemeClr val="bg1"/>
                    </a:solidFill>
                  </a:rPr>
                  <a:t>Dynamics</a:t>
                </a:r>
                <a:endParaRPr lang="en-US" sz="180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endParaRPr lang="en-US" sz="8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bg1"/>
                  </a:buClr>
                  <a:buFont typeface="Wingdings" pitchFamily="2" charset="2"/>
                  <a:buChar char="Ø"/>
                </a:pPr>
                <a:r>
                  <a:rPr lang="en-US" sz="1400" dirty="0" err="1">
                    <a:solidFill>
                      <a:schemeClr val="bg1"/>
                    </a:solidFill>
                  </a:rPr>
                  <a:t>Assortativity</a:t>
                </a:r>
                <a:r>
                  <a:rPr lang="en-US" sz="1400" dirty="0">
                    <a:solidFill>
                      <a:schemeClr val="bg1"/>
                    </a:solidFill>
                  </a:rPr>
                  <a:t> (Is risk exported?)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bg1"/>
                  </a:buClr>
                  <a:buFont typeface="Wingdings" pitchFamily="2" charset="2"/>
                  <a:buChar char="Ø"/>
                </a:pPr>
                <a:r>
                  <a:rPr lang="en-US" sz="1400" dirty="0">
                    <a:solidFill>
                      <a:schemeClr val="bg1"/>
                    </a:solidFill>
                  </a:rPr>
                  <a:t>Two-hop exposure (Who gets indirect exposure in the 7-day window)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bg1"/>
                  </a:buClr>
                  <a:buFont typeface="Wingdings" pitchFamily="2" charset="2"/>
                  <a:buChar char="Ø"/>
                </a:pPr>
                <a:r>
                  <a:rPr lang="en-US" sz="1400" dirty="0">
                    <a:solidFill>
                      <a:schemeClr val="bg1"/>
                    </a:solidFill>
                  </a:rPr>
                  <a:t>Communities (Natural care paths that introduce/mitigate risk)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750EA03-68E5-4F20-3006-5804EFC17D6A}"/>
                </a:ext>
              </a:extLst>
            </p:cNvPr>
            <p:cNvGrpSpPr/>
            <p:nvPr/>
          </p:nvGrpSpPr>
          <p:grpSpPr>
            <a:xfrm>
              <a:off x="5805715" y="4024555"/>
              <a:ext cx="5604968" cy="1292015"/>
              <a:chOff x="5805715" y="4255698"/>
              <a:chExt cx="5604968" cy="1292015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B778218-0D69-779F-319C-E670CA5D95D0}"/>
                  </a:ext>
                </a:extLst>
              </p:cNvPr>
              <p:cNvSpPr/>
              <p:nvPr/>
            </p:nvSpPr>
            <p:spPr>
              <a:xfrm>
                <a:off x="5805715" y="4255698"/>
                <a:ext cx="469615" cy="12920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sz="2800" b="1" dirty="0">
                    <a:solidFill>
                      <a:srgbClr val="102747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F589B2DE-1654-E724-3267-035055EE36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2317" y="4255698"/>
                <a:ext cx="4958366" cy="93871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marL="177800" indent="-1778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207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636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>
                    <a:solidFill>
                      <a:schemeClr val="bg1"/>
                    </a:solidFill>
                  </a:rPr>
                  <a:t>Proof</a:t>
                </a:r>
                <a:endParaRPr lang="en-US" sz="180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endParaRPr lang="en-US" sz="8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bg1"/>
                  </a:buClr>
                  <a:buFont typeface="Wingdings" pitchFamily="2" charset="2"/>
                  <a:buChar char="Ø"/>
                </a:pPr>
                <a:r>
                  <a:rPr lang="en-US" sz="1400" dirty="0">
                    <a:solidFill>
                      <a:schemeClr val="bg1"/>
                    </a:solidFill>
                  </a:rPr>
                  <a:t>Relation/Importance (Which edges or patient features matter most)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bg1"/>
                  </a:buClr>
                  <a:buFont typeface="Wingdings" pitchFamily="2" charset="2"/>
                  <a:buChar char="Ø"/>
                </a:pPr>
                <a:r>
                  <a:rPr lang="en-US" sz="1400" dirty="0">
                    <a:solidFill>
                      <a:schemeClr val="bg1"/>
                    </a:solidFill>
                  </a:rPr>
                  <a:t>Performance (is it timely?)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2715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9102F-A8EE-8756-EC80-B87F7C89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C06D-635E-1FB4-212E-E521828C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65125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 dirty="0"/>
              <a:t>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3D028-212D-346D-FF1F-258A1E3EC744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CFC52-226C-2122-1849-0CD749B4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17A5CD-4B6C-A84E-EB92-E3602CC6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47006D-A785-2BD1-9A24-66D78E4AD79B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245DCB1-B8B5-1823-3DDA-9E56AC590C1E}"/>
              </a:ext>
            </a:extLst>
          </p:cNvPr>
          <p:cNvSpPr/>
          <p:nvPr/>
        </p:nvSpPr>
        <p:spPr>
          <a:xfrm>
            <a:off x="457199" y="1405719"/>
            <a:ext cx="2703610" cy="4260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1F41E28-1628-CB43-2972-FD6E1639AE43}"/>
              </a:ext>
            </a:extLst>
          </p:cNvPr>
          <p:cNvSpPr txBox="1">
            <a:spLocks/>
          </p:cNvSpPr>
          <p:nvPr/>
        </p:nvSpPr>
        <p:spPr>
          <a:xfrm>
            <a:off x="692147" y="1761827"/>
            <a:ext cx="2233714" cy="264687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Labeling – Static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Label patient positive if any positive test in year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Label patient negative if ≥1 negative and never positive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Otherwise, unknown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16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FDB0095-DAC4-1643-D702-A6834B1AE656}"/>
              </a:ext>
            </a:extLst>
          </p:cNvPr>
          <p:cNvCxnSpPr>
            <a:cxnSpLocks/>
          </p:cNvCxnSpPr>
          <p:nvPr/>
        </p:nvCxnSpPr>
        <p:spPr>
          <a:xfrm>
            <a:off x="692147" y="2164223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7E964-68FD-6471-F9D8-E8FB2C24AC07}"/>
              </a:ext>
            </a:extLst>
          </p:cNvPr>
          <p:cNvSpPr/>
          <p:nvPr/>
        </p:nvSpPr>
        <p:spPr>
          <a:xfrm>
            <a:off x="9031190" y="1405719"/>
            <a:ext cx="2703610" cy="4260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FF87FF-C4B5-35FE-892F-3EE7376AC0E0}"/>
              </a:ext>
            </a:extLst>
          </p:cNvPr>
          <p:cNvSpPr txBox="1">
            <a:spLocks/>
          </p:cNvSpPr>
          <p:nvPr/>
        </p:nvSpPr>
        <p:spPr>
          <a:xfrm>
            <a:off x="9266138" y="1761827"/>
            <a:ext cx="2233714" cy="37240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Training – Dynamic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Temporal split: train on sequences up to cutoff day; validate on next 7 days; test on following 7 days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Repeat across multiple temporal shifts for robustness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Training window sensitivity: compare 30 vs 60 vs 90 days using identical </a:t>
            </a:r>
            <a:r>
              <a:rPr lang="en-US" sz="1600" dirty="0" err="1"/>
              <a:t>val</a:t>
            </a:r>
            <a:r>
              <a:rPr lang="en-US" sz="1600" dirty="0"/>
              <a:t>/test windows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58E1C-5D56-0E18-D7D2-20939439A5AA}"/>
              </a:ext>
            </a:extLst>
          </p:cNvPr>
          <p:cNvCxnSpPr>
            <a:cxnSpLocks/>
          </p:cNvCxnSpPr>
          <p:nvPr/>
        </p:nvCxnSpPr>
        <p:spPr>
          <a:xfrm>
            <a:off x="9266138" y="2164223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D597C1C-C6FC-61FC-A794-C4413C7FC045}"/>
              </a:ext>
            </a:extLst>
          </p:cNvPr>
          <p:cNvSpPr/>
          <p:nvPr/>
        </p:nvSpPr>
        <p:spPr>
          <a:xfrm>
            <a:off x="6182421" y="1405719"/>
            <a:ext cx="2703610" cy="4260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16B1D96-258D-2206-2F90-28404969EF8F}"/>
              </a:ext>
            </a:extLst>
          </p:cNvPr>
          <p:cNvSpPr txBox="1">
            <a:spLocks/>
          </p:cNvSpPr>
          <p:nvPr/>
        </p:nvSpPr>
        <p:spPr>
          <a:xfrm>
            <a:off x="6330948" y="1761827"/>
            <a:ext cx="2233714" cy="37240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Training – Static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Split: 5‑fold cross‑validation (</a:t>
            </a:r>
            <a:r>
              <a:rPr lang="en-US" sz="1600" dirty="0" err="1"/>
              <a:t>transductive</a:t>
            </a:r>
            <a:r>
              <a:rPr lang="en-US" sz="1600" dirty="0"/>
              <a:t> on full graph), with a held‑out validation slice per fold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Optimizer &amp; loss: Adam + cross‑entropy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Typical </a:t>
            </a:r>
            <a:r>
              <a:rPr lang="en-US" sz="1600" dirty="0" err="1"/>
              <a:t>hyperparams</a:t>
            </a:r>
            <a:r>
              <a:rPr lang="en-US" sz="1600" dirty="0"/>
              <a:t>: hidden dim ≈ 512; batch size ≈ 512; </a:t>
            </a:r>
            <a:r>
              <a:rPr lang="en-US" sz="1600" dirty="0" err="1"/>
              <a:t>lr</a:t>
            </a:r>
            <a:r>
              <a:rPr lang="en-US" sz="1600" dirty="0"/>
              <a:t> ≈ 1e‑5; up to 200 epochs with early stopping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4FA05D-E2B3-A4D7-8AFC-22127EE8BBD1}"/>
              </a:ext>
            </a:extLst>
          </p:cNvPr>
          <p:cNvCxnSpPr>
            <a:cxnSpLocks/>
          </p:cNvCxnSpPr>
          <p:nvPr/>
        </p:nvCxnSpPr>
        <p:spPr>
          <a:xfrm>
            <a:off x="6330948" y="2164223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FDA6984-722E-1673-4B7A-E7520BFACAF1}"/>
              </a:ext>
            </a:extLst>
          </p:cNvPr>
          <p:cNvSpPr/>
          <p:nvPr/>
        </p:nvSpPr>
        <p:spPr>
          <a:xfrm>
            <a:off x="3333652" y="1405719"/>
            <a:ext cx="2703610" cy="4260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E9804AB-3EBE-B020-2EDE-C1475BCC689C}"/>
              </a:ext>
            </a:extLst>
          </p:cNvPr>
          <p:cNvSpPr txBox="1">
            <a:spLocks/>
          </p:cNvSpPr>
          <p:nvPr/>
        </p:nvSpPr>
        <p:spPr>
          <a:xfrm>
            <a:off x="3509864" y="1761827"/>
            <a:ext cx="2233714" cy="29854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102747"/>
                </a:solidFill>
              </a:rPr>
              <a:t>Labeling – Dynamic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Label patient positive if positive test ≤ T or within T…T+3 (up to 3‑day look‑ahead)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Label patient negative if no positive ≤ T+3 and a negative test in [T−2, T+12]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/>
              <a:t>Otherwise, unknown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F67A94F-DF75-377A-A8AD-AA57867625FC}"/>
              </a:ext>
            </a:extLst>
          </p:cNvPr>
          <p:cNvCxnSpPr>
            <a:cxnSpLocks/>
          </p:cNvCxnSpPr>
          <p:nvPr/>
        </p:nvCxnSpPr>
        <p:spPr>
          <a:xfrm>
            <a:off x="3509864" y="2164223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691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D0BAF-4393-BAD6-1C75-857BF537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DCFB38-F3B2-408A-5FA1-BC7E2D5DDCE0}"/>
              </a:ext>
            </a:extLst>
          </p:cNvPr>
          <p:cNvSpPr/>
          <p:nvPr/>
        </p:nvSpPr>
        <p:spPr>
          <a:xfrm>
            <a:off x="1" y="1843314"/>
            <a:ext cx="4760685" cy="2736398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3E07A-EA05-5FFA-703C-87EEA452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10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A41FB8-4EDC-3D0A-EF5F-EBBE5DBE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4380A1-581B-C43B-4F1B-C1815CF61678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9037DEA-3F9E-663E-4DC7-AFADF13D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209641"/>
            <a:ext cx="3751796" cy="671402"/>
          </a:xfrm>
        </p:spPr>
        <p:txBody>
          <a:bodyPr wrap="square" lIns="0" tIns="0" rIns="0" bIns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Findings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1397DD-764E-AB9F-FD06-7E3D3AA29674}"/>
              </a:ext>
            </a:extLst>
          </p:cNvPr>
          <p:cNvGrpSpPr/>
          <p:nvPr/>
        </p:nvGrpSpPr>
        <p:grpSpPr>
          <a:xfrm>
            <a:off x="5606398" y="1075250"/>
            <a:ext cx="6109352" cy="4891951"/>
            <a:chOff x="5606398" y="1106028"/>
            <a:chExt cx="6109352" cy="489195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EE87FAE-2C8A-73C5-EBC0-D764F3752984}"/>
                </a:ext>
              </a:extLst>
            </p:cNvPr>
            <p:cNvCxnSpPr>
              <a:cxnSpLocks/>
            </p:cNvCxnSpPr>
            <p:nvPr/>
          </p:nvCxnSpPr>
          <p:spPr>
            <a:xfrm>
              <a:off x="5606398" y="2955890"/>
              <a:ext cx="61093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01D1D6E0-633D-8548-5C21-BD2550AB11D6}"/>
                </a:ext>
              </a:extLst>
            </p:cNvPr>
            <p:cNvSpPr txBox="1">
              <a:spLocks/>
            </p:cNvSpPr>
            <p:nvPr/>
          </p:nvSpPr>
          <p:spPr>
            <a:xfrm>
              <a:off x="5606398" y="1106028"/>
              <a:ext cx="6109352" cy="175432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177800" indent="-1778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-1651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20700" indent="-1651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tabLst>
                  <a:tab pos="1943100" algn="l"/>
                </a:tabLst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1778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tabLst>
                  <a:tab pos="1943100" algn="l"/>
                </a:tabLst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63600" indent="-1778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ClrTx/>
                <a:buNone/>
                <a:defRPr sz="2000" b="0" i="0" u="none" strike="noStrike" kern="1200" spc="0" baseline="0">
                  <a:solidFill>
                    <a:srgbClr val="102747"/>
                  </a:solidFill>
                  <a:latin typeface="+mn-lt"/>
                  <a:ea typeface="+mn-ea"/>
                  <a:cs typeface="+mn-cs"/>
                </a:defRPr>
              </a:pPr>
              <a:r>
                <a:rPr lang="en-US" sz="2400" dirty="0">
                  <a:solidFill>
                    <a:srgbClr val="102747"/>
                  </a:solidFill>
                </a:rPr>
                <a:t>Primary Results</a:t>
              </a:r>
              <a:endParaRPr lang="en-US" sz="2000" dirty="0">
                <a:solidFill>
                  <a:srgbClr val="102747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600" dirty="0"/>
                <a:t>Accurate early identification: The dynamic heterogeneous GNN flagged likely VRE carriers up to 3 days before microbiologic confirmation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600" dirty="0"/>
                <a:t>Dynamic model (all features) achieved macro F1 = 0.880, sensitivity = 0.808, specificity = 0.942.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US" sz="1600" dirty="0"/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D057FDD5-90BD-7C84-F23B-9BA70764C50A}"/>
                </a:ext>
              </a:extLst>
            </p:cNvPr>
            <p:cNvSpPr txBox="1">
              <a:spLocks/>
            </p:cNvSpPr>
            <p:nvPr/>
          </p:nvSpPr>
          <p:spPr>
            <a:xfrm>
              <a:off x="5606398" y="3351101"/>
              <a:ext cx="6109352" cy="264687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177800" indent="-1778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-1651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20700" indent="-1651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tabLst>
                  <a:tab pos="1943100" algn="l"/>
                </a:tabLst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1778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tabLst>
                  <a:tab pos="1943100" algn="l"/>
                </a:tabLst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63600" indent="-1778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102747"/>
                </a:buClr>
                <a:buFont typeface="Garamond" panose="02020404030301010803" pitchFamily="18" charset="0"/>
                <a:buChar char="›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lnSpc>
                  <a:spcPct val="100000"/>
                </a:lnSpc>
                <a:spcBef>
                  <a:spcPts val="0"/>
                </a:spcBef>
                <a:buClrTx/>
                <a:buNone/>
                <a:defRPr sz="2000" b="0" i="0" u="none" strike="noStrike" kern="1200" spc="0" baseline="0">
                  <a:solidFill>
                    <a:srgbClr val="102747"/>
                  </a:solidFill>
                  <a:latin typeface="+mn-lt"/>
                  <a:ea typeface="+mn-ea"/>
                  <a:cs typeface="+mn-cs"/>
                </a:defRPr>
              </a:pPr>
              <a:r>
                <a:rPr lang="en-US" sz="2400" dirty="0">
                  <a:solidFill>
                    <a:srgbClr val="102747"/>
                  </a:solidFill>
                </a:rPr>
                <a:t>Model Comparisons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600" dirty="0"/>
                <a:t>Dynamic &gt; Static across the board (≈+20% macro‑F1 with all features):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600" dirty="0"/>
                <a:t>	Static (all features): F1 0.685, </a:t>
              </a:r>
              <a:r>
                <a:rPr lang="en-US" sz="1600" dirty="0" err="1"/>
                <a:t>sens</a:t>
              </a:r>
              <a:r>
                <a:rPr lang="en-US" sz="1600" dirty="0"/>
                <a:t> 0.624, spec 0.788.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600" dirty="0"/>
                <a:t>	Dynamic (all features): F1 0.880, </a:t>
              </a:r>
              <a:r>
                <a:rPr lang="en-US" sz="1600" dirty="0" err="1"/>
                <a:t>sens</a:t>
              </a:r>
              <a:r>
                <a:rPr lang="en-US" sz="1600" dirty="0"/>
                <a:t> 0.808, spec 0.942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600" dirty="0"/>
                <a:t>Temporal modeling matters: Injecting day-by-day hospital graphs reduced false positives vs. the static graph by capturing time-varying ward/room risk and patient trajectories.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1600" dirty="0"/>
                <a:t>Training window sufficiency: 30-day training was enough, extending to 60 or 90 days produced no meaningful improvement</a:t>
              </a:r>
            </a:p>
          </p:txBody>
        </p:sp>
      </p:grpSp>
      <p:sp>
        <p:nvSpPr>
          <p:cNvPr id="21" name="Freeform 130">
            <a:extLst>
              <a:ext uri="{FF2B5EF4-FFF2-40B4-BE49-F238E27FC236}">
                <a16:creationId xmlns:a16="http://schemas.microsoft.com/office/drawing/2014/main" id="{0E7D3E7C-81F9-79C8-3B89-F889AEA618E6}"/>
              </a:ext>
            </a:extLst>
          </p:cNvPr>
          <p:cNvSpPr>
            <a:spLocks noEditPoints="1"/>
          </p:cNvSpPr>
          <p:nvPr/>
        </p:nvSpPr>
        <p:spPr bwMode="auto">
          <a:xfrm>
            <a:off x="476250" y="2190940"/>
            <a:ext cx="567321" cy="497343"/>
          </a:xfrm>
          <a:custGeom>
            <a:avLst/>
            <a:gdLst>
              <a:gd name="T0" fmla="*/ 94 w 96"/>
              <a:gd name="T1" fmla="*/ 0 h 84"/>
              <a:gd name="T2" fmla="*/ 2 w 96"/>
              <a:gd name="T3" fmla="*/ 0 h 84"/>
              <a:gd name="T4" fmla="*/ 0 w 96"/>
              <a:gd name="T5" fmla="*/ 2 h 84"/>
              <a:gd name="T6" fmla="*/ 0 w 96"/>
              <a:gd name="T7" fmla="*/ 66 h 84"/>
              <a:gd name="T8" fmla="*/ 2 w 96"/>
              <a:gd name="T9" fmla="*/ 68 h 84"/>
              <a:gd name="T10" fmla="*/ 28 w 96"/>
              <a:gd name="T11" fmla="*/ 68 h 84"/>
              <a:gd name="T12" fmla="*/ 28 w 96"/>
              <a:gd name="T13" fmla="*/ 82 h 84"/>
              <a:gd name="T14" fmla="*/ 29 w 96"/>
              <a:gd name="T15" fmla="*/ 84 h 84"/>
              <a:gd name="T16" fmla="*/ 30 w 96"/>
              <a:gd name="T17" fmla="*/ 84 h 84"/>
              <a:gd name="T18" fmla="*/ 31 w 96"/>
              <a:gd name="T19" fmla="*/ 83 h 84"/>
              <a:gd name="T20" fmla="*/ 47 w 96"/>
              <a:gd name="T21" fmla="*/ 68 h 84"/>
              <a:gd name="T22" fmla="*/ 94 w 96"/>
              <a:gd name="T23" fmla="*/ 68 h 84"/>
              <a:gd name="T24" fmla="*/ 96 w 96"/>
              <a:gd name="T25" fmla="*/ 66 h 84"/>
              <a:gd name="T26" fmla="*/ 96 w 96"/>
              <a:gd name="T27" fmla="*/ 2 h 84"/>
              <a:gd name="T28" fmla="*/ 94 w 96"/>
              <a:gd name="T29" fmla="*/ 0 h 84"/>
              <a:gd name="T30" fmla="*/ 26 w 96"/>
              <a:gd name="T31" fmla="*/ 48 h 84"/>
              <a:gd name="T32" fmla="*/ 22 w 96"/>
              <a:gd name="T33" fmla="*/ 48 h 84"/>
              <a:gd name="T34" fmla="*/ 20 w 96"/>
              <a:gd name="T35" fmla="*/ 46 h 84"/>
              <a:gd name="T36" fmla="*/ 22 w 96"/>
              <a:gd name="T37" fmla="*/ 44 h 84"/>
              <a:gd name="T38" fmla="*/ 26 w 96"/>
              <a:gd name="T39" fmla="*/ 44 h 84"/>
              <a:gd name="T40" fmla="*/ 28 w 96"/>
              <a:gd name="T41" fmla="*/ 46 h 84"/>
              <a:gd name="T42" fmla="*/ 26 w 96"/>
              <a:gd name="T43" fmla="*/ 48 h 84"/>
              <a:gd name="T44" fmla="*/ 26 w 96"/>
              <a:gd name="T45" fmla="*/ 36 h 84"/>
              <a:gd name="T46" fmla="*/ 22 w 96"/>
              <a:gd name="T47" fmla="*/ 36 h 84"/>
              <a:gd name="T48" fmla="*/ 20 w 96"/>
              <a:gd name="T49" fmla="*/ 34 h 84"/>
              <a:gd name="T50" fmla="*/ 22 w 96"/>
              <a:gd name="T51" fmla="*/ 32 h 84"/>
              <a:gd name="T52" fmla="*/ 26 w 96"/>
              <a:gd name="T53" fmla="*/ 32 h 84"/>
              <a:gd name="T54" fmla="*/ 28 w 96"/>
              <a:gd name="T55" fmla="*/ 34 h 84"/>
              <a:gd name="T56" fmla="*/ 26 w 96"/>
              <a:gd name="T57" fmla="*/ 36 h 84"/>
              <a:gd name="T58" fmla="*/ 26 w 96"/>
              <a:gd name="T59" fmla="*/ 24 h 84"/>
              <a:gd name="T60" fmla="*/ 22 w 96"/>
              <a:gd name="T61" fmla="*/ 24 h 84"/>
              <a:gd name="T62" fmla="*/ 20 w 96"/>
              <a:gd name="T63" fmla="*/ 22 h 84"/>
              <a:gd name="T64" fmla="*/ 22 w 96"/>
              <a:gd name="T65" fmla="*/ 20 h 84"/>
              <a:gd name="T66" fmla="*/ 26 w 96"/>
              <a:gd name="T67" fmla="*/ 20 h 84"/>
              <a:gd name="T68" fmla="*/ 28 w 96"/>
              <a:gd name="T69" fmla="*/ 22 h 84"/>
              <a:gd name="T70" fmla="*/ 26 w 96"/>
              <a:gd name="T71" fmla="*/ 24 h 84"/>
              <a:gd name="T72" fmla="*/ 74 w 96"/>
              <a:gd name="T73" fmla="*/ 48 h 84"/>
              <a:gd name="T74" fmla="*/ 38 w 96"/>
              <a:gd name="T75" fmla="*/ 48 h 84"/>
              <a:gd name="T76" fmla="*/ 36 w 96"/>
              <a:gd name="T77" fmla="*/ 46 h 84"/>
              <a:gd name="T78" fmla="*/ 38 w 96"/>
              <a:gd name="T79" fmla="*/ 44 h 84"/>
              <a:gd name="T80" fmla="*/ 74 w 96"/>
              <a:gd name="T81" fmla="*/ 44 h 84"/>
              <a:gd name="T82" fmla="*/ 76 w 96"/>
              <a:gd name="T83" fmla="*/ 46 h 84"/>
              <a:gd name="T84" fmla="*/ 74 w 96"/>
              <a:gd name="T85" fmla="*/ 48 h 84"/>
              <a:gd name="T86" fmla="*/ 74 w 96"/>
              <a:gd name="T87" fmla="*/ 36 h 84"/>
              <a:gd name="T88" fmla="*/ 38 w 96"/>
              <a:gd name="T89" fmla="*/ 36 h 84"/>
              <a:gd name="T90" fmla="*/ 36 w 96"/>
              <a:gd name="T91" fmla="*/ 34 h 84"/>
              <a:gd name="T92" fmla="*/ 38 w 96"/>
              <a:gd name="T93" fmla="*/ 32 h 84"/>
              <a:gd name="T94" fmla="*/ 74 w 96"/>
              <a:gd name="T95" fmla="*/ 32 h 84"/>
              <a:gd name="T96" fmla="*/ 76 w 96"/>
              <a:gd name="T97" fmla="*/ 34 h 84"/>
              <a:gd name="T98" fmla="*/ 74 w 96"/>
              <a:gd name="T99" fmla="*/ 36 h 84"/>
              <a:gd name="T100" fmla="*/ 74 w 96"/>
              <a:gd name="T101" fmla="*/ 24 h 84"/>
              <a:gd name="T102" fmla="*/ 38 w 96"/>
              <a:gd name="T103" fmla="*/ 24 h 84"/>
              <a:gd name="T104" fmla="*/ 36 w 96"/>
              <a:gd name="T105" fmla="*/ 22 h 84"/>
              <a:gd name="T106" fmla="*/ 38 w 96"/>
              <a:gd name="T107" fmla="*/ 20 h 84"/>
              <a:gd name="T108" fmla="*/ 74 w 96"/>
              <a:gd name="T109" fmla="*/ 20 h 84"/>
              <a:gd name="T110" fmla="*/ 76 w 96"/>
              <a:gd name="T111" fmla="*/ 22 h 84"/>
              <a:gd name="T112" fmla="*/ 74 w 96"/>
              <a:gd name="T113" fmla="*/ 2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6" h="84">
                <a:moveTo>
                  <a:pt x="9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7"/>
                  <a:pt x="1" y="68"/>
                  <a:pt x="2" y="68"/>
                </a:cubicBezTo>
                <a:cubicBezTo>
                  <a:pt x="28" y="68"/>
                  <a:pt x="28" y="68"/>
                  <a:pt x="28" y="68"/>
                </a:cubicBezTo>
                <a:cubicBezTo>
                  <a:pt x="28" y="82"/>
                  <a:pt x="28" y="82"/>
                  <a:pt x="28" y="82"/>
                </a:cubicBezTo>
                <a:cubicBezTo>
                  <a:pt x="28" y="83"/>
                  <a:pt x="28" y="84"/>
                  <a:pt x="29" y="84"/>
                </a:cubicBezTo>
                <a:cubicBezTo>
                  <a:pt x="29" y="84"/>
                  <a:pt x="30" y="84"/>
                  <a:pt x="30" y="84"/>
                </a:cubicBezTo>
                <a:cubicBezTo>
                  <a:pt x="31" y="84"/>
                  <a:pt x="31" y="84"/>
                  <a:pt x="31" y="83"/>
                </a:cubicBezTo>
                <a:cubicBezTo>
                  <a:pt x="47" y="68"/>
                  <a:pt x="47" y="68"/>
                  <a:pt x="47" y="68"/>
                </a:cubicBezTo>
                <a:cubicBezTo>
                  <a:pt x="94" y="68"/>
                  <a:pt x="94" y="68"/>
                  <a:pt x="94" y="68"/>
                </a:cubicBezTo>
                <a:cubicBezTo>
                  <a:pt x="95" y="68"/>
                  <a:pt x="96" y="67"/>
                  <a:pt x="96" y="6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5" y="0"/>
                  <a:pt x="94" y="0"/>
                </a:cubicBezTo>
                <a:close/>
                <a:moveTo>
                  <a:pt x="26" y="48"/>
                </a:moveTo>
                <a:cubicBezTo>
                  <a:pt x="22" y="48"/>
                  <a:pt x="22" y="48"/>
                  <a:pt x="22" y="48"/>
                </a:cubicBezTo>
                <a:cubicBezTo>
                  <a:pt x="21" y="48"/>
                  <a:pt x="20" y="47"/>
                  <a:pt x="20" y="46"/>
                </a:cubicBezTo>
                <a:cubicBezTo>
                  <a:pt x="20" y="45"/>
                  <a:pt x="21" y="44"/>
                  <a:pt x="22" y="44"/>
                </a:cubicBezTo>
                <a:cubicBezTo>
                  <a:pt x="26" y="44"/>
                  <a:pt x="26" y="44"/>
                  <a:pt x="26" y="44"/>
                </a:cubicBezTo>
                <a:cubicBezTo>
                  <a:pt x="27" y="44"/>
                  <a:pt x="28" y="45"/>
                  <a:pt x="28" y="46"/>
                </a:cubicBezTo>
                <a:cubicBezTo>
                  <a:pt x="28" y="47"/>
                  <a:pt x="27" y="48"/>
                  <a:pt x="26" y="48"/>
                </a:cubicBezTo>
                <a:close/>
                <a:moveTo>
                  <a:pt x="26" y="36"/>
                </a:moveTo>
                <a:cubicBezTo>
                  <a:pt x="22" y="36"/>
                  <a:pt x="22" y="36"/>
                  <a:pt x="22" y="36"/>
                </a:cubicBezTo>
                <a:cubicBezTo>
                  <a:pt x="21" y="36"/>
                  <a:pt x="20" y="35"/>
                  <a:pt x="20" y="34"/>
                </a:cubicBezTo>
                <a:cubicBezTo>
                  <a:pt x="20" y="33"/>
                  <a:pt x="21" y="32"/>
                  <a:pt x="22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7" y="32"/>
                  <a:pt x="28" y="33"/>
                  <a:pt x="28" y="34"/>
                </a:cubicBezTo>
                <a:cubicBezTo>
                  <a:pt x="28" y="35"/>
                  <a:pt x="27" y="36"/>
                  <a:pt x="26" y="36"/>
                </a:cubicBezTo>
                <a:close/>
                <a:moveTo>
                  <a:pt x="26" y="24"/>
                </a:moveTo>
                <a:cubicBezTo>
                  <a:pt x="22" y="24"/>
                  <a:pt x="22" y="24"/>
                  <a:pt x="22" y="24"/>
                </a:cubicBezTo>
                <a:cubicBezTo>
                  <a:pt x="21" y="24"/>
                  <a:pt x="20" y="23"/>
                  <a:pt x="20" y="22"/>
                </a:cubicBezTo>
                <a:cubicBezTo>
                  <a:pt x="20" y="21"/>
                  <a:pt x="21" y="20"/>
                  <a:pt x="22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7" y="20"/>
                  <a:pt x="28" y="21"/>
                  <a:pt x="28" y="22"/>
                </a:cubicBezTo>
                <a:cubicBezTo>
                  <a:pt x="28" y="23"/>
                  <a:pt x="27" y="24"/>
                  <a:pt x="26" y="24"/>
                </a:cubicBezTo>
                <a:close/>
                <a:moveTo>
                  <a:pt x="74" y="48"/>
                </a:moveTo>
                <a:cubicBezTo>
                  <a:pt x="38" y="48"/>
                  <a:pt x="38" y="48"/>
                  <a:pt x="38" y="48"/>
                </a:cubicBezTo>
                <a:cubicBezTo>
                  <a:pt x="37" y="48"/>
                  <a:pt x="36" y="47"/>
                  <a:pt x="36" y="46"/>
                </a:cubicBezTo>
                <a:cubicBezTo>
                  <a:pt x="36" y="45"/>
                  <a:pt x="37" y="44"/>
                  <a:pt x="38" y="44"/>
                </a:cubicBezTo>
                <a:cubicBezTo>
                  <a:pt x="74" y="44"/>
                  <a:pt x="74" y="44"/>
                  <a:pt x="74" y="44"/>
                </a:cubicBezTo>
                <a:cubicBezTo>
                  <a:pt x="75" y="44"/>
                  <a:pt x="76" y="45"/>
                  <a:pt x="76" y="46"/>
                </a:cubicBezTo>
                <a:cubicBezTo>
                  <a:pt x="76" y="47"/>
                  <a:pt x="75" y="48"/>
                  <a:pt x="74" y="48"/>
                </a:cubicBezTo>
                <a:close/>
                <a:moveTo>
                  <a:pt x="74" y="36"/>
                </a:moveTo>
                <a:cubicBezTo>
                  <a:pt x="38" y="36"/>
                  <a:pt x="38" y="36"/>
                  <a:pt x="38" y="36"/>
                </a:cubicBezTo>
                <a:cubicBezTo>
                  <a:pt x="37" y="36"/>
                  <a:pt x="36" y="35"/>
                  <a:pt x="36" y="34"/>
                </a:cubicBezTo>
                <a:cubicBezTo>
                  <a:pt x="36" y="33"/>
                  <a:pt x="37" y="32"/>
                  <a:pt x="38" y="32"/>
                </a:cubicBezTo>
                <a:cubicBezTo>
                  <a:pt x="74" y="32"/>
                  <a:pt x="74" y="32"/>
                  <a:pt x="74" y="32"/>
                </a:cubicBezTo>
                <a:cubicBezTo>
                  <a:pt x="75" y="32"/>
                  <a:pt x="76" y="33"/>
                  <a:pt x="76" y="34"/>
                </a:cubicBezTo>
                <a:cubicBezTo>
                  <a:pt x="76" y="35"/>
                  <a:pt x="75" y="36"/>
                  <a:pt x="74" y="36"/>
                </a:cubicBezTo>
                <a:close/>
                <a:moveTo>
                  <a:pt x="74" y="24"/>
                </a:moveTo>
                <a:cubicBezTo>
                  <a:pt x="38" y="24"/>
                  <a:pt x="38" y="24"/>
                  <a:pt x="38" y="24"/>
                </a:cubicBezTo>
                <a:cubicBezTo>
                  <a:pt x="37" y="24"/>
                  <a:pt x="36" y="23"/>
                  <a:pt x="36" y="22"/>
                </a:cubicBezTo>
                <a:cubicBezTo>
                  <a:pt x="36" y="21"/>
                  <a:pt x="37" y="20"/>
                  <a:pt x="38" y="20"/>
                </a:cubicBezTo>
                <a:cubicBezTo>
                  <a:pt x="74" y="20"/>
                  <a:pt x="74" y="20"/>
                  <a:pt x="74" y="20"/>
                </a:cubicBezTo>
                <a:cubicBezTo>
                  <a:pt x="75" y="20"/>
                  <a:pt x="76" y="21"/>
                  <a:pt x="76" y="22"/>
                </a:cubicBezTo>
                <a:cubicBezTo>
                  <a:pt x="76" y="23"/>
                  <a:pt x="75" y="24"/>
                  <a:pt x="74" y="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8037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908D-0DB1-8479-A2CE-C715BD57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0ADCAC2-2673-7D21-61B4-14BEDA00DE26}"/>
              </a:ext>
            </a:extLst>
          </p:cNvPr>
          <p:cNvSpPr/>
          <p:nvPr/>
        </p:nvSpPr>
        <p:spPr>
          <a:xfrm>
            <a:off x="4353118" y="0"/>
            <a:ext cx="7838884" cy="6857993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87B26-81CA-43CC-EC1A-4C9BDBE4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noFill/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11</a:t>
            </a:fld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3BDDB3-B2A7-A9E9-B53E-A77D5D413800}"/>
              </a:ext>
            </a:extLst>
          </p:cNvPr>
          <p:cNvCxnSpPr>
            <a:cxnSpLocks/>
          </p:cNvCxnSpPr>
          <p:nvPr/>
        </p:nvCxnSpPr>
        <p:spPr>
          <a:xfrm>
            <a:off x="5280338" y="6457950"/>
            <a:ext cx="59337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FCA53018-22BF-FE6D-160F-A9D0674456DF}"/>
              </a:ext>
            </a:extLst>
          </p:cNvPr>
          <p:cNvSpPr txBox="1">
            <a:spLocks/>
          </p:cNvSpPr>
          <p:nvPr/>
        </p:nvSpPr>
        <p:spPr>
          <a:xfrm>
            <a:off x="476251" y="650768"/>
            <a:ext cx="3454304" cy="39164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Reflections</a:t>
            </a: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86C3E57E-CB07-4A68-0EE7-F985005D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vert="horz" lIns="0" tIns="45720" rIns="91440" bIns="45720" rtlCol="0" anchor="ctr"/>
          <a:lstStyle/>
          <a:p>
            <a:pPr algn="l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5D7670-FA5A-2100-7622-71BB5A322BC6}"/>
              </a:ext>
            </a:extLst>
          </p:cNvPr>
          <p:cNvCxnSpPr>
            <a:cxnSpLocks/>
          </p:cNvCxnSpPr>
          <p:nvPr/>
        </p:nvCxnSpPr>
        <p:spPr>
          <a:xfrm>
            <a:off x="476250" y="1287864"/>
            <a:ext cx="34543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7FAA72-4F0E-E0CE-CFEC-8766721DFDBC}"/>
              </a:ext>
            </a:extLst>
          </p:cNvPr>
          <p:cNvCxnSpPr>
            <a:cxnSpLocks/>
          </p:cNvCxnSpPr>
          <p:nvPr/>
        </p:nvCxnSpPr>
        <p:spPr>
          <a:xfrm>
            <a:off x="4723238" y="6457950"/>
            <a:ext cx="5571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5EF36CC-5E04-EBD4-0D94-4480E5401D46}"/>
              </a:ext>
            </a:extLst>
          </p:cNvPr>
          <p:cNvGrpSpPr/>
          <p:nvPr/>
        </p:nvGrpSpPr>
        <p:grpSpPr>
          <a:xfrm>
            <a:off x="5280338" y="1042414"/>
            <a:ext cx="6065947" cy="4405107"/>
            <a:chOff x="5805714" y="911463"/>
            <a:chExt cx="5604968" cy="440510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CAFC419-B0CA-76D5-E660-71862CD495B2}"/>
                </a:ext>
              </a:extLst>
            </p:cNvPr>
            <p:cNvGrpSpPr/>
            <p:nvPr/>
          </p:nvGrpSpPr>
          <p:grpSpPr>
            <a:xfrm>
              <a:off x="5805715" y="911463"/>
              <a:ext cx="5604967" cy="1292015"/>
              <a:chOff x="5805715" y="650768"/>
              <a:chExt cx="5604967" cy="129201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E33ADDD-A998-1403-50CD-B292B2BCB764}"/>
                  </a:ext>
                </a:extLst>
              </p:cNvPr>
              <p:cNvSpPr/>
              <p:nvPr/>
            </p:nvSpPr>
            <p:spPr>
              <a:xfrm>
                <a:off x="5805715" y="650768"/>
                <a:ext cx="469615" cy="12920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sz="2800" b="1" dirty="0">
                    <a:solidFill>
                      <a:srgbClr val="102747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7CC1A98F-1E6E-D183-73E1-AC8C06588F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2316" y="1105487"/>
                <a:ext cx="4958366" cy="43088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marL="177800" indent="-1778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207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636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>
                    <a:solidFill>
                      <a:schemeClr val="bg1"/>
                    </a:solidFill>
                  </a:rPr>
                  <a:t>Class Imbalance and Sample Size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endParaRPr lang="en-US" sz="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810CE3F-AB6F-D7FC-49BA-767819CBA3CB}"/>
                </a:ext>
              </a:extLst>
            </p:cNvPr>
            <p:cNvGrpSpPr/>
            <p:nvPr/>
          </p:nvGrpSpPr>
          <p:grpSpPr>
            <a:xfrm>
              <a:off x="5805714" y="2478932"/>
              <a:ext cx="5604968" cy="1292015"/>
              <a:chOff x="5805714" y="2464156"/>
              <a:chExt cx="5604968" cy="12920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1DB8F29-8DD9-245E-3612-72FEA098D409}"/>
                  </a:ext>
                </a:extLst>
              </p:cNvPr>
              <p:cNvSpPr/>
              <p:nvPr/>
            </p:nvSpPr>
            <p:spPr>
              <a:xfrm>
                <a:off x="5805714" y="2464156"/>
                <a:ext cx="469615" cy="12920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sz="2800" b="1" dirty="0">
                    <a:solidFill>
                      <a:srgbClr val="102747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55FEC436-E0BD-5ACB-7020-4D7636C25C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2316" y="2956274"/>
                <a:ext cx="4958366" cy="3077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marL="177800" indent="-1778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207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636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>
                    <a:solidFill>
                      <a:schemeClr val="bg1"/>
                    </a:solidFill>
                  </a:rPr>
                  <a:t>Label Noise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85879B7-AE15-491C-C5CD-EAB4BDA7819C}"/>
                </a:ext>
              </a:extLst>
            </p:cNvPr>
            <p:cNvGrpSpPr/>
            <p:nvPr/>
          </p:nvGrpSpPr>
          <p:grpSpPr>
            <a:xfrm>
              <a:off x="5805715" y="4024555"/>
              <a:ext cx="5604967" cy="1292015"/>
              <a:chOff x="5805715" y="4255698"/>
              <a:chExt cx="5604967" cy="1292015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53E9A5D-48D6-A1BD-4DBF-EC029B9FF594}"/>
                  </a:ext>
                </a:extLst>
              </p:cNvPr>
              <p:cNvSpPr/>
              <p:nvPr/>
            </p:nvSpPr>
            <p:spPr>
              <a:xfrm>
                <a:off x="5805715" y="4255698"/>
                <a:ext cx="469615" cy="12920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sz="2800" b="1" dirty="0">
                    <a:solidFill>
                      <a:srgbClr val="102747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FE21435C-8438-6471-5DD4-E46AE583B9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2316" y="4747816"/>
                <a:ext cx="4958366" cy="3077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marL="177800" indent="-1778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20700" indent="-1651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>
                    <a:tab pos="1943100" algn="l"/>
                  </a:tabLst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63600" indent="-1778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02747"/>
                  </a:buClr>
                  <a:buFont typeface="Garamond" panose="02020404030301010803" pitchFamily="18" charset="0"/>
                  <a:buChar char="›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None/>
                  <a:defRPr sz="2000" b="0" i="0" u="none" strike="noStrike" kern="1200" spc="0" baseline="0">
                    <a:solidFill>
                      <a:srgbClr val="102747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 err="1">
                    <a:solidFill>
                      <a:schemeClr val="bg1"/>
                    </a:solidFill>
                  </a:rPr>
                  <a:t>Deployability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9016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A4DC169-4993-4B1E-8950-4347355BC6A3}"/>
              </a:ext>
            </a:extLst>
          </p:cNvPr>
          <p:cNvSpPr/>
          <p:nvPr/>
        </p:nvSpPr>
        <p:spPr>
          <a:xfrm>
            <a:off x="2" y="0"/>
            <a:ext cx="413657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EBF723D-A4F4-419F-A9B7-75AA050B8271}"/>
              </a:ext>
            </a:extLst>
          </p:cNvPr>
          <p:cNvSpPr/>
          <p:nvPr/>
        </p:nvSpPr>
        <p:spPr>
          <a:xfrm>
            <a:off x="0" y="3788229"/>
            <a:ext cx="8665023" cy="246743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3B379B-E74C-4691-8BE5-FBE0E846CB72}"/>
              </a:ext>
            </a:extLst>
          </p:cNvPr>
          <p:cNvGrpSpPr/>
          <p:nvPr/>
        </p:nvGrpSpPr>
        <p:grpSpPr>
          <a:xfrm>
            <a:off x="634568" y="4202513"/>
            <a:ext cx="6651604" cy="1065653"/>
            <a:chOff x="810520" y="2509978"/>
            <a:chExt cx="8063425" cy="106565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41E572-75DE-459D-A703-6B6847D7931B}"/>
                </a:ext>
              </a:extLst>
            </p:cNvPr>
            <p:cNvSpPr txBox="1"/>
            <p:nvPr/>
          </p:nvSpPr>
          <p:spPr>
            <a:xfrm>
              <a:off x="810520" y="2509978"/>
              <a:ext cx="8063425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6000" dirty="0">
                  <a:solidFill>
                    <a:schemeClr val="bg1"/>
                  </a:solidFill>
                  <a:latin typeface="Garamond" panose="02020404030301010803" pitchFamily="18" charset="0"/>
                </a:rPr>
                <a:t>Questions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2EC4867-BBC1-4B30-8F0D-2830056F8454}"/>
                </a:ext>
              </a:extLst>
            </p:cNvPr>
            <p:cNvCxnSpPr>
              <a:cxnSpLocks/>
            </p:cNvCxnSpPr>
            <p:nvPr/>
          </p:nvCxnSpPr>
          <p:spPr>
            <a:xfrm>
              <a:off x="810520" y="3575631"/>
              <a:ext cx="80634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66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4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</TotalTime>
  <Words>750</Words>
  <Application>Microsoft Macintosh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Wingdings</vt:lpstr>
      <vt:lpstr>Office Theme</vt:lpstr>
      <vt:lpstr>PowerPoint Presentation</vt:lpstr>
      <vt:lpstr>Research Question</vt:lpstr>
      <vt:lpstr>Data</vt:lpstr>
      <vt:lpstr>PowerPoint Presentation</vt:lpstr>
      <vt:lpstr>Nodes and Edges</vt:lpstr>
      <vt:lpstr>PowerPoint Presentation</vt:lpstr>
      <vt:lpstr>Static vs Dynamic</vt:lpstr>
      <vt:lpstr>PowerPoint Presentation</vt:lpstr>
      <vt:lpstr>Training</vt:lpstr>
      <vt:lpstr>Findings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Roy Christopher</dc:creator>
  <cp:lastModifiedBy>Han, Phillip</cp:lastModifiedBy>
  <cp:revision>68</cp:revision>
  <dcterms:created xsi:type="dcterms:W3CDTF">2019-11-01T07:33:21Z</dcterms:created>
  <dcterms:modified xsi:type="dcterms:W3CDTF">2025-10-14T13:51:34Z</dcterms:modified>
</cp:coreProperties>
</file>